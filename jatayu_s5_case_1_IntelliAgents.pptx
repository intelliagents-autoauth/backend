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Lst>
  <p:sldSz cx="18288000" cy="10287000"/>
  <p:notesSz cx="6858000" cy="9144000"/>
  <p:embeddedFontLst>
    <p:embeddedFont>
      <p:font typeface="Canva Sans Bold" panose="020B0604020202020204" charset="0"/>
      <p:regular r:id="rId4"/>
    </p:embeddedFont>
    <p:embeddedFont>
      <p:font typeface="Times New Roman MT" panose="020B0604020202020204" charset="0"/>
      <p:regular r:id="rId5"/>
    </p:embeddedFont>
    <p:embeddedFont>
      <p:font typeface="Times New Roman MT Bold" panose="020B0604020202020204" charset="0"/>
      <p:regular r:id="rId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5" Type="http://schemas.openxmlformats.org/officeDocument/2006/relationships/font" Target="fonts/font2.fntdata"/><Relationship Id="rId10" Type="http://schemas.openxmlformats.org/officeDocument/2006/relationships/tableStyles" Target="tableStyles.xml"/><Relationship Id="rId4" Type="http://schemas.openxmlformats.org/officeDocument/2006/relationships/font" Target="fonts/font1.fntdata"/><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8992" y="1048990"/>
            <a:ext cx="5206290" cy="3412141"/>
            <a:chOff x="0" y="0"/>
            <a:chExt cx="1371204" cy="898671"/>
          </a:xfrm>
        </p:grpSpPr>
        <p:sp>
          <p:nvSpPr>
            <p:cNvPr id="3" name="Freeform 3"/>
            <p:cNvSpPr/>
            <p:nvPr/>
          </p:nvSpPr>
          <p:spPr>
            <a:xfrm>
              <a:off x="0" y="0"/>
              <a:ext cx="1371204" cy="898671"/>
            </a:xfrm>
            <a:custGeom>
              <a:avLst/>
              <a:gdLst/>
              <a:ahLst/>
              <a:cxnLst/>
              <a:rect l="l" t="t" r="r" b="b"/>
              <a:pathLst>
                <a:path w="1371204" h="898671">
                  <a:moveTo>
                    <a:pt x="0" y="0"/>
                  </a:moveTo>
                  <a:lnTo>
                    <a:pt x="1371204" y="0"/>
                  </a:lnTo>
                  <a:lnTo>
                    <a:pt x="1371204" y="898671"/>
                  </a:lnTo>
                  <a:lnTo>
                    <a:pt x="0" y="898671"/>
                  </a:lnTo>
                  <a:close/>
                </a:path>
              </a:pathLst>
            </a:custGeom>
            <a:ln cap="sq">
              <a:noFill/>
              <a:prstDash val="solid"/>
              <a:miter/>
            </a:ln>
          </p:spPr>
          <p:txBody>
            <a:bodyPr/>
            <a:lstStyle/>
            <a:p>
              <a:endParaRPr lang="en-IN"/>
            </a:p>
          </p:txBody>
        </p:sp>
        <p:sp>
          <p:nvSpPr>
            <p:cNvPr id="4" name="TextBox 4"/>
            <p:cNvSpPr txBox="1"/>
            <p:nvPr/>
          </p:nvSpPr>
          <p:spPr>
            <a:xfrm>
              <a:off x="0" y="-114300"/>
              <a:ext cx="1371204" cy="1012971"/>
            </a:xfrm>
            <a:prstGeom prst="rect">
              <a:avLst/>
            </a:prstGeom>
          </p:spPr>
          <p:txBody>
            <a:bodyPr lIns="50800" tIns="50800" rIns="50800" bIns="50800" rtlCol="0" anchor="ctr"/>
            <a:lstStyle/>
            <a:p>
              <a:pPr algn="ctr">
                <a:lnSpc>
                  <a:spcPts val="3919"/>
                </a:lnSpc>
              </a:pPr>
              <a:endParaRPr/>
            </a:p>
            <a:p>
              <a:pPr algn="l">
                <a:lnSpc>
                  <a:spcPts val="2799"/>
                </a:lnSpc>
              </a:pPr>
              <a:r>
                <a:rPr lang="en-US" sz="1999">
                  <a:solidFill>
                    <a:srgbClr val="000000"/>
                  </a:solidFill>
                  <a:latin typeface="Times New Roman MT"/>
                  <a:ea typeface="Times New Roman MT"/>
                  <a:cs typeface="Times New Roman MT"/>
                  <a:sym typeface="Times New Roman MT"/>
                </a:rPr>
                <a:t>Healthcare providers face massive administrative burdens and delays due to manual Prior Authorization (PA) processes. Clinicians spend hours extracting data from EHRs to map against complex, changing payer policies, leading to delayed patient care and high denial rates.</a:t>
              </a:r>
            </a:p>
            <a:p>
              <a:pPr algn="ctr">
                <a:lnSpc>
                  <a:spcPts val="2659"/>
                </a:lnSpc>
                <a:spcBef>
                  <a:spcPct val="0"/>
                </a:spcBef>
              </a:pPr>
              <a:endParaRPr lang="en-US" sz="1999">
                <a:solidFill>
                  <a:srgbClr val="000000"/>
                </a:solidFill>
                <a:latin typeface="Times New Roman MT"/>
                <a:ea typeface="Times New Roman MT"/>
                <a:cs typeface="Times New Roman MT"/>
                <a:sym typeface="Times New Roman MT"/>
              </a:endParaRPr>
            </a:p>
          </p:txBody>
        </p:sp>
      </p:grpSp>
      <p:grpSp>
        <p:nvGrpSpPr>
          <p:cNvPr id="5" name="Group 5"/>
          <p:cNvGrpSpPr/>
          <p:nvPr/>
        </p:nvGrpSpPr>
        <p:grpSpPr>
          <a:xfrm>
            <a:off x="6296282" y="-619002"/>
            <a:ext cx="6343136" cy="4741891"/>
            <a:chOff x="0" y="0"/>
            <a:chExt cx="1670620" cy="1248893"/>
          </a:xfrm>
        </p:grpSpPr>
        <p:sp>
          <p:nvSpPr>
            <p:cNvPr id="6" name="Freeform 6"/>
            <p:cNvSpPr/>
            <p:nvPr/>
          </p:nvSpPr>
          <p:spPr>
            <a:xfrm>
              <a:off x="0" y="0"/>
              <a:ext cx="1670620" cy="1248893"/>
            </a:xfrm>
            <a:custGeom>
              <a:avLst/>
              <a:gdLst/>
              <a:ahLst/>
              <a:cxnLst/>
              <a:rect l="l" t="t" r="r" b="b"/>
              <a:pathLst>
                <a:path w="1670620" h="1248893">
                  <a:moveTo>
                    <a:pt x="0" y="0"/>
                  </a:moveTo>
                  <a:lnTo>
                    <a:pt x="1670620" y="0"/>
                  </a:lnTo>
                  <a:lnTo>
                    <a:pt x="1670620" y="1248893"/>
                  </a:lnTo>
                  <a:lnTo>
                    <a:pt x="0" y="1248893"/>
                  </a:lnTo>
                  <a:close/>
                </a:path>
              </a:pathLst>
            </a:custGeom>
            <a:ln cap="sq">
              <a:noFill/>
              <a:prstDash val="solid"/>
              <a:miter/>
            </a:ln>
          </p:spPr>
          <p:txBody>
            <a:bodyPr/>
            <a:lstStyle/>
            <a:p>
              <a:endParaRPr lang="en-IN"/>
            </a:p>
          </p:txBody>
        </p:sp>
        <p:sp>
          <p:nvSpPr>
            <p:cNvPr id="7" name="TextBox 7"/>
            <p:cNvSpPr txBox="1"/>
            <p:nvPr/>
          </p:nvSpPr>
          <p:spPr>
            <a:xfrm>
              <a:off x="0" y="-38100"/>
              <a:ext cx="1670620" cy="1286993"/>
            </a:xfrm>
            <a:prstGeom prst="rect">
              <a:avLst/>
            </a:prstGeom>
          </p:spPr>
          <p:txBody>
            <a:bodyPr lIns="50800" tIns="50800" rIns="50800" bIns="50800" rtlCol="0" anchor="ctr"/>
            <a:lstStyle/>
            <a:p>
              <a:pPr algn="ctr">
                <a:lnSpc>
                  <a:spcPts val="3359"/>
                </a:lnSpc>
                <a:spcBef>
                  <a:spcPct val="0"/>
                </a:spcBef>
              </a:pPr>
              <a:endParaRPr/>
            </a:p>
          </p:txBody>
        </p:sp>
      </p:grpSp>
      <p:grpSp>
        <p:nvGrpSpPr>
          <p:cNvPr id="8" name="Group 8"/>
          <p:cNvGrpSpPr/>
          <p:nvPr/>
        </p:nvGrpSpPr>
        <p:grpSpPr>
          <a:xfrm>
            <a:off x="12706093" y="143413"/>
            <a:ext cx="5270967" cy="4124334"/>
            <a:chOff x="0" y="0"/>
            <a:chExt cx="1388238" cy="1086244"/>
          </a:xfrm>
        </p:grpSpPr>
        <p:sp>
          <p:nvSpPr>
            <p:cNvPr id="9" name="Freeform 9"/>
            <p:cNvSpPr/>
            <p:nvPr/>
          </p:nvSpPr>
          <p:spPr>
            <a:xfrm>
              <a:off x="0" y="0"/>
              <a:ext cx="1388238" cy="1086244"/>
            </a:xfrm>
            <a:custGeom>
              <a:avLst/>
              <a:gdLst/>
              <a:ahLst/>
              <a:cxnLst/>
              <a:rect l="l" t="t" r="r" b="b"/>
              <a:pathLst>
                <a:path w="1388238" h="1086244">
                  <a:moveTo>
                    <a:pt x="0" y="0"/>
                  </a:moveTo>
                  <a:lnTo>
                    <a:pt x="1388238" y="0"/>
                  </a:lnTo>
                  <a:lnTo>
                    <a:pt x="1388238" y="1086244"/>
                  </a:lnTo>
                  <a:lnTo>
                    <a:pt x="0" y="1086244"/>
                  </a:lnTo>
                  <a:close/>
                </a:path>
              </a:pathLst>
            </a:custGeom>
            <a:ln cap="sq">
              <a:noFill/>
              <a:prstDash val="solid"/>
              <a:miter/>
            </a:ln>
          </p:spPr>
          <p:txBody>
            <a:bodyPr/>
            <a:lstStyle/>
            <a:p>
              <a:endParaRPr lang="en-IN"/>
            </a:p>
          </p:txBody>
        </p:sp>
        <p:sp>
          <p:nvSpPr>
            <p:cNvPr id="10" name="TextBox 10"/>
            <p:cNvSpPr txBox="1"/>
            <p:nvPr/>
          </p:nvSpPr>
          <p:spPr>
            <a:xfrm>
              <a:off x="0" y="-38100"/>
              <a:ext cx="1388238" cy="1124344"/>
            </a:xfrm>
            <a:prstGeom prst="rect">
              <a:avLst/>
            </a:prstGeom>
          </p:spPr>
          <p:txBody>
            <a:bodyPr lIns="50800" tIns="50800" rIns="50800" bIns="50800" rtlCol="0" anchor="ctr"/>
            <a:lstStyle/>
            <a:p>
              <a:pPr algn="ctr">
                <a:lnSpc>
                  <a:spcPts val="3359"/>
                </a:lnSpc>
                <a:spcBef>
                  <a:spcPct val="0"/>
                </a:spcBef>
              </a:pPr>
              <a:endParaRPr/>
            </a:p>
          </p:txBody>
        </p:sp>
      </p:grpSp>
      <p:grpSp>
        <p:nvGrpSpPr>
          <p:cNvPr id="11" name="Group 11"/>
          <p:cNvGrpSpPr/>
          <p:nvPr/>
        </p:nvGrpSpPr>
        <p:grpSpPr>
          <a:xfrm>
            <a:off x="6251941" y="4741891"/>
            <a:ext cx="7750325" cy="5184054"/>
            <a:chOff x="0" y="0"/>
            <a:chExt cx="2041238" cy="1365348"/>
          </a:xfrm>
        </p:grpSpPr>
        <p:sp>
          <p:nvSpPr>
            <p:cNvPr id="12" name="Freeform 12"/>
            <p:cNvSpPr/>
            <p:nvPr/>
          </p:nvSpPr>
          <p:spPr>
            <a:xfrm>
              <a:off x="0" y="0"/>
              <a:ext cx="2041238" cy="1365348"/>
            </a:xfrm>
            <a:custGeom>
              <a:avLst/>
              <a:gdLst/>
              <a:ahLst/>
              <a:cxnLst/>
              <a:rect l="l" t="t" r="r" b="b"/>
              <a:pathLst>
                <a:path w="2041238" h="1365348">
                  <a:moveTo>
                    <a:pt x="0" y="0"/>
                  </a:moveTo>
                  <a:lnTo>
                    <a:pt x="2041238" y="0"/>
                  </a:lnTo>
                  <a:lnTo>
                    <a:pt x="2041238" y="1365348"/>
                  </a:lnTo>
                  <a:lnTo>
                    <a:pt x="0" y="1365348"/>
                  </a:lnTo>
                  <a:close/>
                </a:path>
              </a:pathLst>
            </a:custGeom>
            <a:ln cap="sq">
              <a:noFill/>
              <a:prstDash val="solid"/>
              <a:miter/>
            </a:ln>
          </p:spPr>
          <p:txBody>
            <a:bodyPr/>
            <a:lstStyle/>
            <a:p>
              <a:endParaRPr lang="en-IN"/>
            </a:p>
          </p:txBody>
        </p:sp>
        <p:sp>
          <p:nvSpPr>
            <p:cNvPr id="13" name="TextBox 13"/>
            <p:cNvSpPr txBox="1"/>
            <p:nvPr/>
          </p:nvSpPr>
          <p:spPr>
            <a:xfrm>
              <a:off x="0" y="-38100"/>
              <a:ext cx="2041238" cy="1403448"/>
            </a:xfrm>
            <a:prstGeom prst="rect">
              <a:avLst/>
            </a:prstGeom>
          </p:spPr>
          <p:txBody>
            <a:bodyPr lIns="50800" tIns="50800" rIns="50800" bIns="50800" rtlCol="0" anchor="ctr"/>
            <a:lstStyle/>
            <a:p>
              <a:pPr algn="ctr">
                <a:lnSpc>
                  <a:spcPts val="3359"/>
                </a:lnSpc>
                <a:spcBef>
                  <a:spcPct val="0"/>
                </a:spcBef>
              </a:pPr>
              <a:endParaRPr/>
            </a:p>
          </p:txBody>
        </p:sp>
      </p:grpSp>
      <p:sp>
        <p:nvSpPr>
          <p:cNvPr id="14" name="Freeform 14"/>
          <p:cNvSpPr/>
          <p:nvPr/>
        </p:nvSpPr>
        <p:spPr>
          <a:xfrm>
            <a:off x="149967" y="4722512"/>
            <a:ext cx="5981539" cy="3342809"/>
          </a:xfrm>
          <a:custGeom>
            <a:avLst/>
            <a:gdLst/>
            <a:ahLst/>
            <a:cxnLst/>
            <a:rect l="l" t="t" r="r" b="b"/>
            <a:pathLst>
              <a:path w="5981539" h="3342809">
                <a:moveTo>
                  <a:pt x="0" y="0"/>
                </a:moveTo>
                <a:lnTo>
                  <a:pt x="5981540" y="0"/>
                </a:lnTo>
                <a:lnTo>
                  <a:pt x="5981540" y="3342809"/>
                </a:lnTo>
                <a:lnTo>
                  <a:pt x="0" y="3342809"/>
                </a:lnTo>
                <a:lnTo>
                  <a:pt x="0" y="0"/>
                </a:lnTo>
                <a:close/>
              </a:path>
            </a:pathLst>
          </a:custGeom>
          <a:blipFill>
            <a:blip r:embed="rId2"/>
            <a:stretch>
              <a:fillRect r="-2307"/>
            </a:stretch>
          </a:blipFill>
        </p:spPr>
        <p:txBody>
          <a:bodyPr/>
          <a:lstStyle/>
          <a:p>
            <a:endParaRPr lang="en-IN"/>
          </a:p>
        </p:txBody>
      </p:sp>
      <p:grpSp>
        <p:nvGrpSpPr>
          <p:cNvPr id="15" name="Group 15"/>
          <p:cNvGrpSpPr/>
          <p:nvPr/>
        </p:nvGrpSpPr>
        <p:grpSpPr>
          <a:xfrm>
            <a:off x="7365481" y="4591597"/>
            <a:ext cx="3007088" cy="1849964"/>
            <a:chOff x="0" y="0"/>
            <a:chExt cx="791990" cy="487233"/>
          </a:xfrm>
        </p:grpSpPr>
        <p:sp>
          <p:nvSpPr>
            <p:cNvPr id="16" name="Freeform 16"/>
            <p:cNvSpPr/>
            <p:nvPr/>
          </p:nvSpPr>
          <p:spPr>
            <a:xfrm>
              <a:off x="0" y="0"/>
              <a:ext cx="791990" cy="487233"/>
            </a:xfrm>
            <a:custGeom>
              <a:avLst/>
              <a:gdLst/>
              <a:ahLst/>
              <a:cxnLst/>
              <a:rect l="l" t="t" r="r" b="b"/>
              <a:pathLst>
                <a:path w="791990" h="487233">
                  <a:moveTo>
                    <a:pt x="0" y="0"/>
                  </a:moveTo>
                  <a:lnTo>
                    <a:pt x="791990" y="0"/>
                  </a:lnTo>
                  <a:lnTo>
                    <a:pt x="791990" y="487233"/>
                  </a:lnTo>
                  <a:lnTo>
                    <a:pt x="0" y="487233"/>
                  </a:lnTo>
                  <a:close/>
                </a:path>
              </a:pathLst>
            </a:custGeom>
            <a:ln cap="sq">
              <a:noFill/>
              <a:prstDash val="solid"/>
              <a:miter/>
            </a:ln>
          </p:spPr>
          <p:txBody>
            <a:bodyPr/>
            <a:lstStyle/>
            <a:p>
              <a:endParaRPr lang="en-IN"/>
            </a:p>
          </p:txBody>
        </p:sp>
        <p:sp>
          <p:nvSpPr>
            <p:cNvPr id="17" name="TextBox 17"/>
            <p:cNvSpPr txBox="1"/>
            <p:nvPr/>
          </p:nvSpPr>
          <p:spPr>
            <a:xfrm>
              <a:off x="0" y="-38100"/>
              <a:ext cx="791990" cy="525333"/>
            </a:xfrm>
            <a:prstGeom prst="rect">
              <a:avLst/>
            </a:prstGeom>
          </p:spPr>
          <p:txBody>
            <a:bodyPr lIns="50800" tIns="50800" rIns="50800" bIns="50800" rtlCol="0" anchor="ctr"/>
            <a:lstStyle/>
            <a:p>
              <a:pPr algn="ctr">
                <a:lnSpc>
                  <a:spcPts val="3359"/>
                </a:lnSpc>
              </a:pPr>
              <a:endParaRPr/>
            </a:p>
          </p:txBody>
        </p:sp>
      </p:grpSp>
      <p:sp>
        <p:nvSpPr>
          <p:cNvPr id="18" name="Freeform 18"/>
          <p:cNvSpPr/>
          <p:nvPr/>
        </p:nvSpPr>
        <p:spPr>
          <a:xfrm>
            <a:off x="13744115" y="1159849"/>
            <a:ext cx="465688" cy="421659"/>
          </a:xfrm>
          <a:custGeom>
            <a:avLst/>
            <a:gdLst/>
            <a:ahLst/>
            <a:cxnLst/>
            <a:rect l="l" t="t" r="r" b="b"/>
            <a:pathLst>
              <a:path w="465688" h="421659">
                <a:moveTo>
                  <a:pt x="0" y="0"/>
                </a:moveTo>
                <a:lnTo>
                  <a:pt x="465688" y="0"/>
                </a:lnTo>
                <a:lnTo>
                  <a:pt x="465688" y="421659"/>
                </a:lnTo>
                <a:lnTo>
                  <a:pt x="0" y="42165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9" name="Freeform 19"/>
          <p:cNvSpPr/>
          <p:nvPr/>
        </p:nvSpPr>
        <p:spPr>
          <a:xfrm>
            <a:off x="13706838" y="2254108"/>
            <a:ext cx="540243" cy="500952"/>
          </a:xfrm>
          <a:custGeom>
            <a:avLst/>
            <a:gdLst/>
            <a:ahLst/>
            <a:cxnLst/>
            <a:rect l="l" t="t" r="r" b="b"/>
            <a:pathLst>
              <a:path w="540243" h="500952">
                <a:moveTo>
                  <a:pt x="0" y="0"/>
                </a:moveTo>
                <a:lnTo>
                  <a:pt x="540242" y="0"/>
                </a:lnTo>
                <a:lnTo>
                  <a:pt x="540242" y="500952"/>
                </a:lnTo>
                <a:lnTo>
                  <a:pt x="0" y="5009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20" name="Freeform 20"/>
          <p:cNvSpPr/>
          <p:nvPr/>
        </p:nvSpPr>
        <p:spPr>
          <a:xfrm>
            <a:off x="13814017" y="3383710"/>
            <a:ext cx="432479" cy="540599"/>
          </a:xfrm>
          <a:custGeom>
            <a:avLst/>
            <a:gdLst/>
            <a:ahLst/>
            <a:cxnLst/>
            <a:rect l="l" t="t" r="r" b="b"/>
            <a:pathLst>
              <a:path w="432479" h="540599">
                <a:moveTo>
                  <a:pt x="0" y="0"/>
                </a:moveTo>
                <a:lnTo>
                  <a:pt x="432479" y="0"/>
                </a:lnTo>
                <a:lnTo>
                  <a:pt x="432479" y="540599"/>
                </a:lnTo>
                <a:lnTo>
                  <a:pt x="0" y="54059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21" name="Freeform 21"/>
          <p:cNvSpPr/>
          <p:nvPr/>
        </p:nvSpPr>
        <p:spPr>
          <a:xfrm>
            <a:off x="13814017" y="4432390"/>
            <a:ext cx="488461" cy="580245"/>
          </a:xfrm>
          <a:custGeom>
            <a:avLst/>
            <a:gdLst/>
            <a:ahLst/>
            <a:cxnLst/>
            <a:rect l="l" t="t" r="r" b="b"/>
            <a:pathLst>
              <a:path w="488461" h="580245">
                <a:moveTo>
                  <a:pt x="0" y="0"/>
                </a:moveTo>
                <a:lnTo>
                  <a:pt x="488461" y="0"/>
                </a:lnTo>
                <a:lnTo>
                  <a:pt x="488461" y="580245"/>
                </a:lnTo>
                <a:lnTo>
                  <a:pt x="0" y="58024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grpSp>
        <p:nvGrpSpPr>
          <p:cNvPr id="22" name="Group 22"/>
          <p:cNvGrpSpPr/>
          <p:nvPr/>
        </p:nvGrpSpPr>
        <p:grpSpPr>
          <a:xfrm>
            <a:off x="5143347" y="4507874"/>
            <a:ext cx="988160" cy="1618636"/>
            <a:chOff x="0" y="0"/>
            <a:chExt cx="260256" cy="426307"/>
          </a:xfrm>
        </p:grpSpPr>
        <p:sp>
          <p:nvSpPr>
            <p:cNvPr id="23" name="Freeform 23"/>
            <p:cNvSpPr/>
            <p:nvPr/>
          </p:nvSpPr>
          <p:spPr>
            <a:xfrm>
              <a:off x="0" y="0"/>
              <a:ext cx="260256" cy="426307"/>
            </a:xfrm>
            <a:custGeom>
              <a:avLst/>
              <a:gdLst/>
              <a:ahLst/>
              <a:cxnLst/>
              <a:rect l="l" t="t" r="r" b="b"/>
              <a:pathLst>
                <a:path w="260256" h="426307">
                  <a:moveTo>
                    <a:pt x="0" y="0"/>
                  </a:moveTo>
                  <a:lnTo>
                    <a:pt x="260256" y="0"/>
                  </a:lnTo>
                  <a:lnTo>
                    <a:pt x="260256" y="426307"/>
                  </a:lnTo>
                  <a:lnTo>
                    <a:pt x="0" y="426307"/>
                  </a:lnTo>
                  <a:close/>
                </a:path>
              </a:pathLst>
            </a:custGeom>
            <a:ln cap="sq">
              <a:noFill/>
              <a:prstDash val="solid"/>
              <a:miter/>
            </a:ln>
          </p:spPr>
          <p:txBody>
            <a:bodyPr/>
            <a:lstStyle/>
            <a:p>
              <a:endParaRPr lang="en-IN"/>
            </a:p>
          </p:txBody>
        </p:sp>
        <p:sp>
          <p:nvSpPr>
            <p:cNvPr id="24" name="TextBox 24"/>
            <p:cNvSpPr txBox="1"/>
            <p:nvPr/>
          </p:nvSpPr>
          <p:spPr>
            <a:xfrm>
              <a:off x="0" y="-38100"/>
              <a:ext cx="260256" cy="464407"/>
            </a:xfrm>
            <a:prstGeom prst="rect">
              <a:avLst/>
            </a:prstGeom>
          </p:spPr>
          <p:txBody>
            <a:bodyPr lIns="50800" tIns="50800" rIns="50800" bIns="50800" rtlCol="0" anchor="ctr"/>
            <a:lstStyle/>
            <a:p>
              <a:pPr algn="ctr">
                <a:lnSpc>
                  <a:spcPts val="3359"/>
                </a:lnSpc>
              </a:pPr>
              <a:endParaRPr/>
            </a:p>
          </p:txBody>
        </p:sp>
      </p:grpSp>
      <p:sp>
        <p:nvSpPr>
          <p:cNvPr id="25" name="Freeform 25"/>
          <p:cNvSpPr/>
          <p:nvPr/>
        </p:nvSpPr>
        <p:spPr>
          <a:xfrm>
            <a:off x="14717833" y="6585977"/>
            <a:ext cx="3259226" cy="3262636"/>
          </a:xfrm>
          <a:custGeom>
            <a:avLst/>
            <a:gdLst/>
            <a:ahLst/>
            <a:cxnLst/>
            <a:rect l="l" t="t" r="r" b="b"/>
            <a:pathLst>
              <a:path w="3259226" h="3262636">
                <a:moveTo>
                  <a:pt x="0" y="0"/>
                </a:moveTo>
                <a:lnTo>
                  <a:pt x="3259226" y="0"/>
                </a:lnTo>
                <a:lnTo>
                  <a:pt x="3259226" y="3262636"/>
                </a:lnTo>
                <a:lnTo>
                  <a:pt x="0" y="326263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N"/>
          </a:p>
        </p:txBody>
      </p:sp>
      <p:sp>
        <p:nvSpPr>
          <p:cNvPr id="26" name="Freeform 26"/>
          <p:cNvSpPr/>
          <p:nvPr/>
        </p:nvSpPr>
        <p:spPr>
          <a:xfrm>
            <a:off x="6331330" y="5773801"/>
            <a:ext cx="7482688" cy="2605201"/>
          </a:xfrm>
          <a:custGeom>
            <a:avLst/>
            <a:gdLst/>
            <a:ahLst/>
            <a:cxnLst/>
            <a:rect l="l" t="t" r="r" b="b"/>
            <a:pathLst>
              <a:path w="7482688" h="2605201">
                <a:moveTo>
                  <a:pt x="0" y="0"/>
                </a:moveTo>
                <a:lnTo>
                  <a:pt x="7482687" y="0"/>
                </a:lnTo>
                <a:lnTo>
                  <a:pt x="7482687" y="2605201"/>
                </a:lnTo>
                <a:lnTo>
                  <a:pt x="0" y="2605201"/>
                </a:lnTo>
                <a:lnTo>
                  <a:pt x="0" y="0"/>
                </a:lnTo>
                <a:close/>
              </a:path>
            </a:pathLst>
          </a:custGeom>
          <a:blipFill>
            <a:blip r:embed="rId13"/>
            <a:stretch>
              <a:fillRect t="-32881" b="-23654"/>
            </a:stretch>
          </a:blipFill>
        </p:spPr>
        <p:txBody>
          <a:bodyPr/>
          <a:lstStyle/>
          <a:p>
            <a:endParaRPr lang="en-IN"/>
          </a:p>
        </p:txBody>
      </p:sp>
      <p:sp>
        <p:nvSpPr>
          <p:cNvPr id="27" name="TextBox 27"/>
          <p:cNvSpPr txBox="1"/>
          <p:nvPr/>
        </p:nvSpPr>
        <p:spPr>
          <a:xfrm>
            <a:off x="-441252" y="4053117"/>
            <a:ext cx="5584598" cy="538480"/>
          </a:xfrm>
          <a:prstGeom prst="rect">
            <a:avLst/>
          </a:prstGeom>
        </p:spPr>
        <p:txBody>
          <a:bodyPr lIns="0" tIns="0" rIns="0" bIns="0" rtlCol="0" anchor="t">
            <a:spAutoFit/>
          </a:bodyPr>
          <a:lstStyle/>
          <a:p>
            <a:pPr algn="ctr">
              <a:lnSpc>
                <a:spcPts val="3919"/>
              </a:lnSpc>
            </a:pPr>
            <a:r>
              <a:rPr lang="en-US" sz="2799" b="1" u="sng">
                <a:solidFill>
                  <a:srgbClr val="000000"/>
                </a:solidFill>
                <a:latin typeface="Times New Roman MT Bold"/>
                <a:ea typeface="Times New Roman MT Bold"/>
                <a:cs typeface="Times New Roman MT Bold"/>
                <a:sym typeface="Times New Roman MT Bold"/>
              </a:rPr>
              <a:t>Market Size and Growth</a:t>
            </a:r>
          </a:p>
        </p:txBody>
      </p:sp>
      <p:sp>
        <p:nvSpPr>
          <p:cNvPr id="28" name="TextBox 28"/>
          <p:cNvSpPr txBox="1"/>
          <p:nvPr/>
        </p:nvSpPr>
        <p:spPr>
          <a:xfrm>
            <a:off x="4780870" y="4105999"/>
            <a:ext cx="5584598" cy="538480"/>
          </a:xfrm>
          <a:prstGeom prst="rect">
            <a:avLst/>
          </a:prstGeom>
        </p:spPr>
        <p:txBody>
          <a:bodyPr lIns="0" tIns="0" rIns="0" bIns="0" rtlCol="0" anchor="t">
            <a:spAutoFit/>
          </a:bodyPr>
          <a:lstStyle/>
          <a:p>
            <a:pPr algn="ctr">
              <a:lnSpc>
                <a:spcPts val="3919"/>
              </a:lnSpc>
            </a:pPr>
            <a:r>
              <a:rPr lang="en-US" sz="2799" b="1" u="sng">
                <a:solidFill>
                  <a:srgbClr val="000000"/>
                </a:solidFill>
                <a:latin typeface="Times New Roman MT Bold"/>
                <a:ea typeface="Times New Roman MT Bold"/>
                <a:cs typeface="Times New Roman MT Bold"/>
                <a:sym typeface="Times New Roman MT Bold"/>
              </a:rPr>
              <a:t>Future Readiness </a:t>
            </a:r>
          </a:p>
        </p:txBody>
      </p:sp>
      <p:sp>
        <p:nvSpPr>
          <p:cNvPr id="29" name="TextBox 29"/>
          <p:cNvSpPr txBox="1"/>
          <p:nvPr/>
        </p:nvSpPr>
        <p:spPr>
          <a:xfrm>
            <a:off x="-214208" y="-61236"/>
            <a:ext cx="6061678" cy="1089936"/>
          </a:xfrm>
          <a:prstGeom prst="rect">
            <a:avLst/>
          </a:prstGeom>
        </p:spPr>
        <p:txBody>
          <a:bodyPr lIns="0" tIns="0" rIns="0" bIns="0" rtlCol="0" anchor="t">
            <a:spAutoFit/>
          </a:bodyPr>
          <a:lstStyle/>
          <a:p>
            <a:pPr algn="ctr">
              <a:lnSpc>
                <a:spcPts val="4191"/>
              </a:lnSpc>
            </a:pPr>
            <a:r>
              <a:rPr lang="en-US" sz="2994" b="1">
                <a:solidFill>
                  <a:srgbClr val="000000"/>
                </a:solidFill>
                <a:latin typeface="Times New Roman MT Bold"/>
                <a:ea typeface="Times New Roman MT Bold"/>
                <a:cs typeface="Times New Roman MT Bold"/>
                <a:sym typeface="Times New Roman MT Bold"/>
              </a:rPr>
              <a:t>AutoAuth - Autonomous Prior Authorization Orchestrator</a:t>
            </a:r>
          </a:p>
        </p:txBody>
      </p:sp>
      <p:sp>
        <p:nvSpPr>
          <p:cNvPr id="30" name="TextBox 30"/>
          <p:cNvSpPr txBox="1"/>
          <p:nvPr/>
        </p:nvSpPr>
        <p:spPr>
          <a:xfrm>
            <a:off x="-898041" y="1043028"/>
            <a:ext cx="5584598" cy="538480"/>
          </a:xfrm>
          <a:prstGeom prst="rect">
            <a:avLst/>
          </a:prstGeom>
        </p:spPr>
        <p:txBody>
          <a:bodyPr lIns="0" tIns="0" rIns="0" bIns="0" rtlCol="0" anchor="t">
            <a:spAutoFit/>
          </a:bodyPr>
          <a:lstStyle/>
          <a:p>
            <a:pPr algn="ctr">
              <a:lnSpc>
                <a:spcPts val="3919"/>
              </a:lnSpc>
            </a:pPr>
            <a:r>
              <a:rPr lang="en-US" sz="2799" b="1" u="sng">
                <a:solidFill>
                  <a:srgbClr val="000000"/>
                </a:solidFill>
                <a:latin typeface="Times New Roman MT Bold"/>
                <a:ea typeface="Times New Roman MT Bold"/>
                <a:cs typeface="Times New Roman MT Bold"/>
                <a:sym typeface="Times New Roman MT Bold"/>
              </a:rPr>
              <a:t>Problem Statement</a:t>
            </a:r>
          </a:p>
        </p:txBody>
      </p:sp>
      <p:sp>
        <p:nvSpPr>
          <p:cNvPr id="31" name="TextBox 31"/>
          <p:cNvSpPr txBox="1"/>
          <p:nvPr/>
        </p:nvSpPr>
        <p:spPr>
          <a:xfrm>
            <a:off x="6234663" y="248009"/>
            <a:ext cx="5584598" cy="538480"/>
          </a:xfrm>
          <a:prstGeom prst="rect">
            <a:avLst/>
          </a:prstGeom>
        </p:spPr>
        <p:txBody>
          <a:bodyPr lIns="0" tIns="0" rIns="0" bIns="0" rtlCol="0" anchor="t">
            <a:spAutoFit/>
          </a:bodyPr>
          <a:lstStyle/>
          <a:p>
            <a:pPr algn="just">
              <a:lnSpc>
                <a:spcPts val="3919"/>
              </a:lnSpc>
            </a:pPr>
            <a:r>
              <a:rPr lang="en-US" sz="2799" b="1" u="sng">
                <a:solidFill>
                  <a:srgbClr val="000000"/>
                </a:solidFill>
                <a:latin typeface="Times New Roman MT Bold"/>
                <a:ea typeface="Times New Roman MT Bold"/>
                <a:cs typeface="Times New Roman MT Bold"/>
                <a:sym typeface="Times New Roman MT Bold"/>
              </a:rPr>
              <a:t>Business Need/Opportunity</a:t>
            </a:r>
          </a:p>
        </p:txBody>
      </p:sp>
      <p:sp>
        <p:nvSpPr>
          <p:cNvPr id="32" name="TextBox 32"/>
          <p:cNvSpPr txBox="1"/>
          <p:nvPr/>
        </p:nvSpPr>
        <p:spPr>
          <a:xfrm>
            <a:off x="12032867" y="248009"/>
            <a:ext cx="5584598" cy="538480"/>
          </a:xfrm>
          <a:prstGeom prst="rect">
            <a:avLst/>
          </a:prstGeom>
        </p:spPr>
        <p:txBody>
          <a:bodyPr lIns="0" tIns="0" rIns="0" bIns="0" rtlCol="0" anchor="t">
            <a:spAutoFit/>
          </a:bodyPr>
          <a:lstStyle/>
          <a:p>
            <a:pPr algn="ctr">
              <a:lnSpc>
                <a:spcPts val="3919"/>
              </a:lnSpc>
            </a:pPr>
            <a:r>
              <a:rPr lang="en-US" sz="2799" b="1" u="sng">
                <a:solidFill>
                  <a:srgbClr val="000000"/>
                </a:solidFill>
                <a:latin typeface="Times New Roman MT Bold"/>
                <a:ea typeface="Times New Roman MT Bold"/>
                <a:cs typeface="Times New Roman MT Bold"/>
                <a:sym typeface="Times New Roman MT Bold"/>
              </a:rPr>
              <a:t>Target Segment </a:t>
            </a:r>
          </a:p>
        </p:txBody>
      </p:sp>
      <p:sp>
        <p:nvSpPr>
          <p:cNvPr id="33" name="TextBox 33"/>
          <p:cNvSpPr txBox="1"/>
          <p:nvPr/>
        </p:nvSpPr>
        <p:spPr>
          <a:xfrm>
            <a:off x="6331330" y="912719"/>
            <a:ext cx="5962134" cy="3076575"/>
          </a:xfrm>
          <a:prstGeom prst="rect">
            <a:avLst/>
          </a:prstGeom>
        </p:spPr>
        <p:txBody>
          <a:bodyPr lIns="0" tIns="0" rIns="0" bIns="0" rtlCol="0" anchor="t">
            <a:spAutoFit/>
          </a:bodyPr>
          <a:lstStyle/>
          <a:p>
            <a:pPr marL="431801" lvl="1" indent="-215900" algn="l">
              <a:lnSpc>
                <a:spcPts val="3000"/>
              </a:lnSpc>
              <a:buFont typeface="Arial"/>
              <a:buChar char="•"/>
            </a:pPr>
            <a:r>
              <a:rPr lang="en-US" sz="2000">
                <a:solidFill>
                  <a:srgbClr val="000000"/>
                </a:solidFill>
                <a:latin typeface="Times New Roman MT"/>
                <a:ea typeface="Times New Roman MT"/>
                <a:cs typeface="Times New Roman MT"/>
                <a:sym typeface="Times New Roman MT"/>
              </a:rPr>
              <a:t>Manual PA creates revenue leakage through avoidable denials and rework on high-cost claims.</a:t>
            </a:r>
          </a:p>
          <a:p>
            <a:pPr marL="431801" lvl="1" indent="-215900" algn="l">
              <a:lnSpc>
                <a:spcPts val="3000"/>
              </a:lnSpc>
              <a:buFont typeface="Arial"/>
              <a:buChar char="•"/>
            </a:pPr>
            <a:r>
              <a:rPr lang="en-US" sz="2000">
                <a:solidFill>
                  <a:srgbClr val="000000"/>
                </a:solidFill>
                <a:latin typeface="Times New Roman MT"/>
                <a:ea typeface="Times New Roman MT"/>
                <a:cs typeface="Times New Roman MT"/>
                <a:sym typeface="Times New Roman MT"/>
              </a:rPr>
              <a:t>Administrative workload is exploding, forcing hospitals to hire/reassign staff just to handle PA volume.</a:t>
            </a:r>
          </a:p>
          <a:p>
            <a:pPr marL="431801" lvl="1" indent="-215900" algn="l">
              <a:lnSpc>
                <a:spcPts val="3000"/>
              </a:lnSpc>
              <a:buFont typeface="Arial"/>
              <a:buChar char="•"/>
            </a:pPr>
            <a:r>
              <a:rPr lang="en-US" sz="2000">
                <a:solidFill>
                  <a:srgbClr val="000000"/>
                </a:solidFill>
                <a:latin typeface="Times New Roman MT"/>
                <a:ea typeface="Times New Roman MT"/>
                <a:cs typeface="Times New Roman MT"/>
                <a:sym typeface="Times New Roman MT"/>
              </a:rPr>
              <a:t>Regulatory pressure is increasing (CMS PA modernization rules + stricter turnaround expectations), making automation urgent.</a:t>
            </a:r>
          </a:p>
        </p:txBody>
      </p:sp>
      <p:sp>
        <p:nvSpPr>
          <p:cNvPr id="34" name="TextBox 34"/>
          <p:cNvSpPr txBox="1"/>
          <p:nvPr/>
        </p:nvSpPr>
        <p:spPr>
          <a:xfrm>
            <a:off x="14248095" y="1027929"/>
            <a:ext cx="3806216" cy="4219575"/>
          </a:xfrm>
          <a:prstGeom prst="rect">
            <a:avLst/>
          </a:prstGeom>
        </p:spPr>
        <p:txBody>
          <a:bodyPr lIns="0" tIns="0" rIns="0" bIns="0" rtlCol="0" anchor="t">
            <a:spAutoFit/>
          </a:bodyPr>
          <a:lstStyle/>
          <a:p>
            <a:pPr marL="431801" lvl="1" indent="-215900" algn="l">
              <a:lnSpc>
                <a:spcPts val="3000"/>
              </a:lnSpc>
              <a:buFont typeface="Arial"/>
              <a:buChar char="•"/>
            </a:pPr>
            <a:r>
              <a:rPr lang="en-US" sz="2000" b="1">
                <a:solidFill>
                  <a:srgbClr val="000000"/>
                </a:solidFill>
                <a:latin typeface="Times New Roman MT Bold"/>
                <a:ea typeface="Times New Roman MT Bold"/>
                <a:cs typeface="Times New Roman MT Bold"/>
                <a:sym typeface="Times New Roman MT Bold"/>
              </a:rPr>
              <a:t>Hospital PA Coordinators / Authorization Teams</a:t>
            </a:r>
            <a:r>
              <a:rPr lang="en-US" sz="2000">
                <a:solidFill>
                  <a:srgbClr val="000000"/>
                </a:solidFill>
                <a:latin typeface="Times New Roman MT"/>
                <a:ea typeface="Times New Roman MT"/>
                <a:cs typeface="Times New Roman MT"/>
                <a:sym typeface="Times New Roman MT"/>
              </a:rPr>
              <a:t> (main users)</a:t>
            </a:r>
          </a:p>
          <a:p>
            <a:pPr marL="431801" lvl="1" indent="-215900" algn="l">
              <a:lnSpc>
                <a:spcPts val="3000"/>
              </a:lnSpc>
              <a:buFont typeface="Arial"/>
              <a:buChar char="•"/>
            </a:pPr>
            <a:r>
              <a:rPr lang="en-US" sz="2000" b="1">
                <a:solidFill>
                  <a:srgbClr val="000000"/>
                </a:solidFill>
                <a:latin typeface="Times New Roman MT Bold"/>
                <a:ea typeface="Times New Roman MT Bold"/>
                <a:cs typeface="Times New Roman MT Bold"/>
                <a:sym typeface="Times New Roman MT Bold"/>
              </a:rPr>
              <a:t>Revenue Cycle / Billing Operations</a:t>
            </a:r>
            <a:r>
              <a:rPr lang="en-US" sz="2000">
                <a:solidFill>
                  <a:srgbClr val="000000"/>
                </a:solidFill>
                <a:latin typeface="Times New Roman MT"/>
                <a:ea typeface="Times New Roman MT"/>
                <a:cs typeface="Times New Roman MT"/>
                <a:sym typeface="Times New Roman MT"/>
              </a:rPr>
              <a:t> (submission + tracking)</a:t>
            </a:r>
          </a:p>
          <a:p>
            <a:pPr marL="431801" lvl="1" indent="-215900" algn="l">
              <a:lnSpc>
                <a:spcPts val="3000"/>
              </a:lnSpc>
              <a:buFont typeface="Arial"/>
              <a:buChar char="•"/>
            </a:pPr>
            <a:r>
              <a:rPr lang="en-US" sz="2000" b="1">
                <a:solidFill>
                  <a:srgbClr val="000000"/>
                </a:solidFill>
                <a:latin typeface="Times New Roman MT Bold"/>
                <a:ea typeface="Times New Roman MT Bold"/>
                <a:cs typeface="Times New Roman MT Bold"/>
                <a:sym typeface="Times New Roman MT Bold"/>
              </a:rPr>
              <a:t>Ordering Physicians / Clinicians</a:t>
            </a:r>
            <a:r>
              <a:rPr lang="en-US" sz="2000">
                <a:solidFill>
                  <a:srgbClr val="000000"/>
                </a:solidFill>
                <a:latin typeface="Times New Roman MT"/>
                <a:ea typeface="Times New Roman MT"/>
                <a:cs typeface="Times New Roman MT"/>
                <a:sym typeface="Times New Roman MT"/>
              </a:rPr>
              <a:t> (medical necessity + peer-to-peer)</a:t>
            </a:r>
          </a:p>
          <a:p>
            <a:pPr marL="431801" lvl="1" indent="-215900" algn="l">
              <a:lnSpc>
                <a:spcPts val="3000"/>
              </a:lnSpc>
              <a:buFont typeface="Arial"/>
              <a:buChar char="•"/>
            </a:pPr>
            <a:r>
              <a:rPr lang="en-US" sz="2000" b="1">
                <a:solidFill>
                  <a:srgbClr val="000000"/>
                </a:solidFill>
                <a:latin typeface="Times New Roman MT Bold"/>
                <a:ea typeface="Times New Roman MT Bold"/>
                <a:cs typeface="Times New Roman MT Bold"/>
                <a:sym typeface="Times New Roman MT Bold"/>
              </a:rPr>
              <a:t>Patients</a:t>
            </a:r>
            <a:r>
              <a:rPr lang="en-US" sz="2000">
                <a:solidFill>
                  <a:srgbClr val="000000"/>
                </a:solidFill>
                <a:latin typeface="Times New Roman MT"/>
                <a:ea typeface="Times New Roman MT"/>
                <a:cs typeface="Times New Roman MT"/>
                <a:sym typeface="Times New Roman MT"/>
              </a:rPr>
              <a:t> (faster approvals, fewer care delays)</a:t>
            </a:r>
          </a:p>
        </p:txBody>
      </p:sp>
      <p:sp>
        <p:nvSpPr>
          <p:cNvPr id="35" name="TextBox 35"/>
          <p:cNvSpPr txBox="1"/>
          <p:nvPr/>
        </p:nvSpPr>
        <p:spPr>
          <a:xfrm>
            <a:off x="14689258" y="6903208"/>
            <a:ext cx="3336478" cy="430710"/>
          </a:xfrm>
          <a:prstGeom prst="rect">
            <a:avLst/>
          </a:prstGeom>
        </p:spPr>
        <p:txBody>
          <a:bodyPr lIns="0" tIns="0" rIns="0" bIns="0" rtlCol="0" anchor="t">
            <a:spAutoFit/>
          </a:bodyPr>
          <a:lstStyle/>
          <a:p>
            <a:pPr algn="ctr">
              <a:lnSpc>
                <a:spcPts val="3188"/>
              </a:lnSpc>
            </a:pPr>
            <a:r>
              <a:rPr lang="en-US" sz="2277" b="1">
                <a:solidFill>
                  <a:srgbClr val="000000"/>
                </a:solidFill>
                <a:latin typeface="Times New Roman MT Bold"/>
                <a:ea typeface="Times New Roman MT Bold"/>
                <a:cs typeface="Times New Roman MT Bold"/>
                <a:sym typeface="Times New Roman MT Bold"/>
              </a:rPr>
              <a:t>Team Name: IntelliAgents</a:t>
            </a:r>
          </a:p>
        </p:txBody>
      </p:sp>
      <p:sp>
        <p:nvSpPr>
          <p:cNvPr id="36" name="TextBox 36"/>
          <p:cNvSpPr txBox="1"/>
          <p:nvPr/>
        </p:nvSpPr>
        <p:spPr>
          <a:xfrm>
            <a:off x="14794033" y="7758394"/>
            <a:ext cx="3424487" cy="1807011"/>
          </a:xfrm>
          <a:prstGeom prst="rect">
            <a:avLst/>
          </a:prstGeom>
        </p:spPr>
        <p:txBody>
          <a:bodyPr lIns="0" tIns="0" rIns="0" bIns="0" rtlCol="0" anchor="t">
            <a:spAutoFit/>
          </a:bodyPr>
          <a:lstStyle/>
          <a:p>
            <a:pPr algn="l">
              <a:lnSpc>
                <a:spcPts val="2361"/>
              </a:lnSpc>
            </a:pPr>
            <a:r>
              <a:rPr lang="en-US" sz="1686">
                <a:solidFill>
                  <a:srgbClr val="000000"/>
                </a:solidFill>
                <a:latin typeface="Times New Roman MT"/>
                <a:ea typeface="Times New Roman MT"/>
                <a:cs typeface="Times New Roman MT"/>
                <a:sym typeface="Times New Roman MT"/>
              </a:rPr>
              <a:t>    Team Members: </a:t>
            </a:r>
          </a:p>
          <a:p>
            <a:pPr marL="364132" lvl="1" indent="-182066" algn="l">
              <a:lnSpc>
                <a:spcPts val="2361"/>
              </a:lnSpc>
              <a:buFont typeface="Arial"/>
              <a:buChar char="•"/>
            </a:pPr>
            <a:r>
              <a:rPr lang="en-US" sz="1686">
                <a:solidFill>
                  <a:srgbClr val="000000"/>
                </a:solidFill>
                <a:latin typeface="Times New Roman MT"/>
                <a:ea typeface="Times New Roman MT"/>
                <a:cs typeface="Times New Roman MT"/>
                <a:sym typeface="Times New Roman MT"/>
              </a:rPr>
              <a:t> A Sai Teja Venkata Vinay</a:t>
            </a:r>
          </a:p>
          <a:p>
            <a:pPr marL="364132" lvl="1" indent="-182066" algn="l">
              <a:lnSpc>
                <a:spcPts val="2361"/>
              </a:lnSpc>
              <a:buFont typeface="Arial"/>
              <a:buChar char="•"/>
            </a:pPr>
            <a:r>
              <a:rPr lang="en-US" sz="1686">
                <a:solidFill>
                  <a:srgbClr val="000000"/>
                </a:solidFill>
                <a:latin typeface="Times New Roman MT"/>
                <a:ea typeface="Times New Roman MT"/>
                <a:cs typeface="Times New Roman MT"/>
                <a:sym typeface="Times New Roman MT"/>
              </a:rPr>
              <a:t> K Pranay </a:t>
            </a:r>
          </a:p>
          <a:p>
            <a:pPr marL="364132" lvl="1" indent="-182066" algn="l">
              <a:lnSpc>
                <a:spcPts val="2361"/>
              </a:lnSpc>
              <a:buFont typeface="Arial"/>
              <a:buChar char="•"/>
            </a:pPr>
            <a:r>
              <a:rPr lang="en-US" sz="1686">
                <a:solidFill>
                  <a:srgbClr val="000000"/>
                </a:solidFill>
                <a:latin typeface="Times New Roman MT"/>
                <a:ea typeface="Times New Roman MT"/>
                <a:cs typeface="Times New Roman MT"/>
                <a:sym typeface="Times New Roman MT"/>
              </a:rPr>
              <a:t> K Nikhil Vijay Kumar </a:t>
            </a:r>
          </a:p>
          <a:p>
            <a:pPr marL="364132" lvl="1" indent="-182066" algn="l">
              <a:lnSpc>
                <a:spcPts val="2361"/>
              </a:lnSpc>
              <a:buFont typeface="Arial"/>
              <a:buChar char="•"/>
            </a:pPr>
            <a:r>
              <a:rPr lang="en-US" sz="1686">
                <a:solidFill>
                  <a:srgbClr val="000000"/>
                </a:solidFill>
                <a:latin typeface="Times New Roman MT"/>
                <a:ea typeface="Times New Roman MT"/>
                <a:cs typeface="Times New Roman MT"/>
                <a:sym typeface="Times New Roman MT"/>
              </a:rPr>
              <a:t> J Hareesh</a:t>
            </a:r>
          </a:p>
          <a:p>
            <a:pPr marL="364132" lvl="1" indent="-182066" algn="l">
              <a:lnSpc>
                <a:spcPts val="2361"/>
              </a:lnSpc>
              <a:buFont typeface="Arial"/>
              <a:buChar char="•"/>
            </a:pPr>
            <a:r>
              <a:rPr lang="en-US" sz="1686">
                <a:solidFill>
                  <a:srgbClr val="000000"/>
                </a:solidFill>
                <a:latin typeface="Times New Roman MT"/>
                <a:ea typeface="Times New Roman MT"/>
                <a:cs typeface="Times New Roman MT"/>
                <a:sym typeface="Times New Roman MT"/>
              </a:rPr>
              <a:t> A Sri Akshay Satya Srinivas</a:t>
            </a:r>
          </a:p>
        </p:txBody>
      </p:sp>
      <p:sp>
        <p:nvSpPr>
          <p:cNvPr id="37" name="TextBox 37"/>
          <p:cNvSpPr txBox="1"/>
          <p:nvPr/>
        </p:nvSpPr>
        <p:spPr>
          <a:xfrm>
            <a:off x="0" y="8131570"/>
            <a:ext cx="6004275" cy="2149475"/>
          </a:xfrm>
          <a:prstGeom prst="rect">
            <a:avLst/>
          </a:prstGeom>
        </p:spPr>
        <p:txBody>
          <a:bodyPr lIns="0" tIns="0" rIns="0" bIns="0" rtlCol="0" anchor="t">
            <a:spAutoFit/>
          </a:bodyPr>
          <a:lstStyle/>
          <a:p>
            <a:pPr marL="431801" lvl="1" indent="-215900" algn="just">
              <a:lnSpc>
                <a:spcPts val="2800"/>
              </a:lnSpc>
              <a:buFont typeface="Arial"/>
              <a:buChar char="•"/>
            </a:pPr>
            <a:r>
              <a:rPr lang="en-US" sz="2000">
                <a:solidFill>
                  <a:srgbClr val="000000"/>
                </a:solidFill>
                <a:latin typeface="Times New Roman MT"/>
                <a:ea typeface="Times New Roman MT"/>
                <a:cs typeface="Times New Roman MT"/>
                <a:sym typeface="Times New Roman MT"/>
              </a:rPr>
              <a:t>US Prior Authorization Automation market: $1.13B (2025)</a:t>
            </a:r>
          </a:p>
          <a:p>
            <a:pPr marL="431801" lvl="1" indent="-215900" algn="just">
              <a:lnSpc>
                <a:spcPts val="2800"/>
              </a:lnSpc>
              <a:buFont typeface="Arial"/>
              <a:buChar char="•"/>
            </a:pPr>
            <a:r>
              <a:rPr lang="en-US" sz="2000">
                <a:solidFill>
                  <a:srgbClr val="000000"/>
                </a:solidFill>
                <a:latin typeface="Times New Roman MT"/>
                <a:ea typeface="Times New Roman MT"/>
                <a:cs typeface="Times New Roman MT"/>
                <a:sym typeface="Times New Roman MT"/>
              </a:rPr>
              <a:t>Projected to reach $3.69B by 2033 at ~15% CAGR, driven by hospitals shifting toward AI-driven, zero-touch PA workflows</a:t>
            </a:r>
          </a:p>
          <a:p>
            <a:pPr algn="just">
              <a:lnSpc>
                <a:spcPts val="2800"/>
              </a:lnSpc>
            </a:pPr>
            <a:endParaRPr lang="en-US" sz="2000">
              <a:solidFill>
                <a:srgbClr val="000000"/>
              </a:solidFill>
              <a:latin typeface="Times New Roman MT"/>
              <a:ea typeface="Times New Roman MT"/>
              <a:cs typeface="Times New Roman MT"/>
              <a:sym typeface="Times New Roman MT"/>
            </a:endParaRPr>
          </a:p>
        </p:txBody>
      </p:sp>
      <p:sp>
        <p:nvSpPr>
          <p:cNvPr id="38" name="TextBox 38"/>
          <p:cNvSpPr txBox="1"/>
          <p:nvPr/>
        </p:nvSpPr>
        <p:spPr>
          <a:xfrm>
            <a:off x="6251941" y="8188720"/>
            <a:ext cx="2789767" cy="1661160"/>
          </a:xfrm>
          <a:prstGeom prst="rect">
            <a:avLst/>
          </a:prstGeom>
        </p:spPr>
        <p:txBody>
          <a:bodyPr lIns="0" tIns="0" rIns="0" bIns="0" rtlCol="0" anchor="t">
            <a:spAutoFit/>
          </a:bodyPr>
          <a:lstStyle/>
          <a:p>
            <a:pPr algn="just">
              <a:lnSpc>
                <a:spcPts val="1889"/>
              </a:lnSpc>
              <a:spcBef>
                <a:spcPct val="0"/>
              </a:spcBef>
            </a:pPr>
            <a:r>
              <a:rPr lang="en-US" sz="1350" b="1">
                <a:solidFill>
                  <a:srgbClr val="000000"/>
                </a:solidFill>
                <a:latin typeface="Canva Sans Bold"/>
                <a:ea typeface="Canva Sans Bold"/>
                <a:cs typeface="Canva Sans Bold"/>
                <a:sym typeface="Canva Sans Bold"/>
              </a:rPr>
              <a:t>1.</a:t>
            </a:r>
            <a:r>
              <a:rPr lang="en-US" sz="1350" b="1" u="sng">
                <a:solidFill>
                  <a:srgbClr val="000000"/>
                </a:solidFill>
                <a:latin typeface="Canva Sans Bold"/>
                <a:ea typeface="Canva Sans Bold"/>
                <a:cs typeface="Canva Sans Bold"/>
                <a:sym typeface="Canva Sans Bold"/>
              </a:rPr>
              <a:t>Problem Research &amp; Validation</a:t>
            </a:r>
          </a:p>
          <a:p>
            <a:pPr marL="291465" lvl="1" indent="-145732" algn="just">
              <a:lnSpc>
                <a:spcPts val="1889"/>
              </a:lnSpc>
              <a:buFont typeface="Arial"/>
              <a:buChar char="•"/>
            </a:pPr>
            <a:r>
              <a:rPr lang="en-US" sz="1350">
                <a:solidFill>
                  <a:srgbClr val="000000"/>
                </a:solidFill>
                <a:latin typeface="Times New Roman MT"/>
                <a:ea typeface="Times New Roman MT"/>
                <a:cs typeface="Times New Roman MT"/>
                <a:sym typeface="Times New Roman MT"/>
              </a:rPr>
              <a:t>Study PA pain points + denial reasons.</a:t>
            </a:r>
          </a:p>
          <a:p>
            <a:pPr marL="291465" lvl="1" indent="-145732" algn="l">
              <a:lnSpc>
                <a:spcPts val="1889"/>
              </a:lnSpc>
              <a:buFont typeface="Arial"/>
              <a:buChar char="•"/>
            </a:pPr>
            <a:r>
              <a:rPr lang="en-US" sz="1350">
                <a:solidFill>
                  <a:srgbClr val="000000"/>
                </a:solidFill>
                <a:latin typeface="Times New Roman MT"/>
                <a:ea typeface="Times New Roman MT"/>
                <a:cs typeface="Times New Roman MT"/>
                <a:sym typeface="Times New Roman MT"/>
              </a:rPr>
              <a:t>Identify key stakeholders (PA coordinators, payers, doctors).</a:t>
            </a:r>
          </a:p>
          <a:p>
            <a:pPr marL="291465" lvl="1" indent="-145732" algn="just">
              <a:lnSpc>
                <a:spcPts val="1889"/>
              </a:lnSpc>
              <a:buFont typeface="Arial"/>
              <a:buChar char="•"/>
            </a:pPr>
            <a:r>
              <a:rPr lang="en-US" sz="1350">
                <a:solidFill>
                  <a:srgbClr val="000000"/>
                </a:solidFill>
                <a:latin typeface="Times New Roman MT"/>
                <a:ea typeface="Times New Roman MT"/>
                <a:cs typeface="Times New Roman MT"/>
                <a:sym typeface="Times New Roman MT"/>
              </a:rPr>
              <a:t>Define success KPIs (time-to-approval, denial rate)</a:t>
            </a:r>
          </a:p>
        </p:txBody>
      </p:sp>
      <p:sp>
        <p:nvSpPr>
          <p:cNvPr id="39" name="TextBox 39"/>
          <p:cNvSpPr txBox="1"/>
          <p:nvPr/>
        </p:nvSpPr>
        <p:spPr>
          <a:xfrm>
            <a:off x="6854852" y="4665362"/>
            <a:ext cx="3080696" cy="1451610"/>
          </a:xfrm>
          <a:prstGeom prst="rect">
            <a:avLst/>
          </a:prstGeom>
        </p:spPr>
        <p:txBody>
          <a:bodyPr lIns="0" tIns="0" rIns="0" bIns="0" rtlCol="0" anchor="t">
            <a:spAutoFit/>
          </a:bodyPr>
          <a:lstStyle/>
          <a:p>
            <a:pPr algn="just">
              <a:lnSpc>
                <a:spcPts val="1889"/>
              </a:lnSpc>
            </a:pPr>
            <a:r>
              <a:rPr lang="en-US" sz="1350" b="1" u="sng">
                <a:solidFill>
                  <a:srgbClr val="000000"/>
                </a:solidFill>
                <a:latin typeface="Times New Roman MT Bold"/>
                <a:ea typeface="Times New Roman MT Bold"/>
                <a:cs typeface="Times New Roman MT Bold"/>
                <a:sym typeface="Times New Roman MT Bold"/>
              </a:rPr>
              <a:t>2) Hackathon PoC (Working Demo)</a:t>
            </a:r>
          </a:p>
          <a:p>
            <a:pPr marL="291465" lvl="1" indent="-145732" algn="l">
              <a:lnSpc>
                <a:spcPts val="1889"/>
              </a:lnSpc>
              <a:buFont typeface="Arial"/>
              <a:buChar char="•"/>
            </a:pPr>
            <a:r>
              <a:rPr lang="en-US" sz="1350">
                <a:solidFill>
                  <a:srgbClr val="000000"/>
                </a:solidFill>
                <a:latin typeface="Times New Roman MT"/>
                <a:ea typeface="Times New Roman MT"/>
                <a:cs typeface="Times New Roman MT"/>
                <a:sym typeface="Times New Roman MT"/>
              </a:rPr>
              <a:t>Upload patient docs</a:t>
            </a:r>
          </a:p>
          <a:p>
            <a:pPr marL="291465" lvl="1" indent="-145732" algn="just">
              <a:lnSpc>
                <a:spcPts val="1889"/>
              </a:lnSpc>
              <a:buFont typeface="Arial"/>
              <a:buChar char="•"/>
            </a:pPr>
            <a:r>
              <a:rPr lang="en-US" sz="1350">
                <a:solidFill>
                  <a:srgbClr val="000000"/>
                </a:solidFill>
                <a:latin typeface="Times New Roman MT"/>
                <a:ea typeface="Times New Roman MT"/>
                <a:cs typeface="Times New Roman MT"/>
                <a:sym typeface="Times New Roman MT"/>
              </a:rPr>
              <a:t>Evidence extraction + policy checklist</a:t>
            </a:r>
          </a:p>
          <a:p>
            <a:pPr marL="291465" lvl="1" indent="-145732" algn="l">
              <a:lnSpc>
                <a:spcPts val="1889"/>
              </a:lnSpc>
              <a:buFont typeface="Arial"/>
              <a:buChar char="•"/>
            </a:pPr>
            <a:r>
              <a:rPr lang="en-US" sz="1350">
                <a:solidFill>
                  <a:srgbClr val="000000"/>
                </a:solidFill>
                <a:latin typeface="Times New Roman MT"/>
                <a:ea typeface="Times New Roman MT"/>
                <a:cs typeface="Times New Roman MT"/>
                <a:sym typeface="Times New Roman MT"/>
              </a:rPr>
              <a:t>Auto-generate PA request packet</a:t>
            </a:r>
          </a:p>
          <a:p>
            <a:pPr marL="291465" lvl="1" indent="-145732" algn="l">
              <a:lnSpc>
                <a:spcPts val="1889"/>
              </a:lnSpc>
              <a:buFont typeface="Arial"/>
              <a:buChar char="•"/>
            </a:pPr>
            <a:r>
              <a:rPr lang="en-US" sz="1350">
                <a:solidFill>
                  <a:srgbClr val="000000"/>
                </a:solidFill>
                <a:latin typeface="Times New Roman MT"/>
                <a:ea typeface="Times New Roman MT"/>
                <a:cs typeface="Times New Roman MT"/>
                <a:sym typeface="Times New Roman MT"/>
              </a:rPr>
              <a:t>Human review + approve/deny simulation</a:t>
            </a:r>
          </a:p>
        </p:txBody>
      </p:sp>
      <p:sp>
        <p:nvSpPr>
          <p:cNvPr id="40" name="TextBox 40"/>
          <p:cNvSpPr txBox="1"/>
          <p:nvPr/>
        </p:nvSpPr>
        <p:spPr>
          <a:xfrm>
            <a:off x="10372569" y="4596855"/>
            <a:ext cx="3083474" cy="1451610"/>
          </a:xfrm>
          <a:prstGeom prst="rect">
            <a:avLst/>
          </a:prstGeom>
        </p:spPr>
        <p:txBody>
          <a:bodyPr lIns="0" tIns="0" rIns="0" bIns="0" rtlCol="0" anchor="t">
            <a:spAutoFit/>
          </a:bodyPr>
          <a:lstStyle/>
          <a:p>
            <a:pPr algn="l">
              <a:lnSpc>
                <a:spcPts val="1889"/>
              </a:lnSpc>
            </a:pPr>
            <a:r>
              <a:rPr lang="en-US" sz="1350" b="1">
                <a:solidFill>
                  <a:srgbClr val="000000"/>
                </a:solidFill>
                <a:latin typeface="Times New Roman MT Bold"/>
                <a:ea typeface="Times New Roman MT Bold"/>
                <a:cs typeface="Times New Roman MT Bold"/>
                <a:sym typeface="Times New Roman MT Bold"/>
              </a:rPr>
              <a:t>4.</a:t>
            </a:r>
            <a:r>
              <a:rPr lang="en-US" sz="1350" b="1" u="sng">
                <a:solidFill>
                  <a:srgbClr val="000000"/>
                </a:solidFill>
                <a:latin typeface="Times New Roman MT Bold"/>
                <a:ea typeface="Times New Roman MT Bold"/>
                <a:cs typeface="Times New Roman MT Bold"/>
                <a:sym typeface="Times New Roman MT Bold"/>
              </a:rPr>
              <a:t>Enterprise Scale &amp; Automation</a:t>
            </a:r>
          </a:p>
          <a:p>
            <a:pPr marL="291465" lvl="1" indent="-145732" algn="l">
              <a:lnSpc>
                <a:spcPts val="1889"/>
              </a:lnSpc>
              <a:spcBef>
                <a:spcPct val="0"/>
              </a:spcBef>
              <a:buFont typeface="Arial"/>
              <a:buChar char="•"/>
            </a:pPr>
            <a:r>
              <a:rPr lang="en-US" sz="1350">
                <a:solidFill>
                  <a:srgbClr val="000000"/>
                </a:solidFill>
                <a:latin typeface="Times New Roman MT"/>
                <a:ea typeface="Times New Roman MT"/>
                <a:cs typeface="Times New Roman MT"/>
                <a:sym typeface="Times New Roman MT"/>
              </a:rPr>
              <a:t>Add RFI communication loop + appeal automation</a:t>
            </a:r>
          </a:p>
          <a:p>
            <a:pPr marL="291465" lvl="1" indent="-145732" algn="l">
              <a:lnSpc>
                <a:spcPts val="1889"/>
              </a:lnSpc>
              <a:spcBef>
                <a:spcPct val="0"/>
              </a:spcBef>
              <a:buFont typeface="Arial"/>
              <a:buChar char="•"/>
            </a:pPr>
            <a:r>
              <a:rPr lang="en-US" sz="1350">
                <a:solidFill>
                  <a:srgbClr val="000000"/>
                </a:solidFill>
                <a:latin typeface="Times New Roman MT"/>
                <a:ea typeface="Times New Roman MT"/>
                <a:cs typeface="Times New Roman MT"/>
                <a:sym typeface="Times New Roman MT"/>
              </a:rPr>
              <a:t>Peer-to-peer support module</a:t>
            </a:r>
          </a:p>
          <a:p>
            <a:pPr marL="291465" lvl="1" indent="-145732" algn="l">
              <a:lnSpc>
                <a:spcPts val="1889"/>
              </a:lnSpc>
              <a:spcBef>
                <a:spcPct val="0"/>
              </a:spcBef>
              <a:buFont typeface="Arial"/>
              <a:buChar char="•"/>
            </a:pPr>
            <a:r>
              <a:rPr lang="en-US" sz="1350">
                <a:solidFill>
                  <a:srgbClr val="000000"/>
                </a:solidFill>
                <a:latin typeface="Times New Roman MT"/>
                <a:ea typeface="Times New Roman MT"/>
                <a:cs typeface="Times New Roman MT"/>
                <a:sym typeface="Times New Roman MT"/>
              </a:rPr>
              <a:t>Multi-hospital + multi-payer scaling</a:t>
            </a:r>
          </a:p>
          <a:p>
            <a:pPr marL="291465" lvl="1" indent="-145732" algn="l">
              <a:lnSpc>
                <a:spcPts val="1889"/>
              </a:lnSpc>
              <a:spcBef>
                <a:spcPct val="0"/>
              </a:spcBef>
              <a:buFont typeface="Arial"/>
              <a:buChar char="•"/>
            </a:pPr>
            <a:r>
              <a:rPr lang="en-US" sz="1350">
                <a:solidFill>
                  <a:srgbClr val="000000"/>
                </a:solidFill>
                <a:latin typeface="Times New Roman MT"/>
                <a:ea typeface="Times New Roman MT"/>
                <a:cs typeface="Times New Roman MT"/>
                <a:sym typeface="Times New Roman MT"/>
              </a:rPr>
              <a:t> Audit log + chain of custody</a:t>
            </a:r>
          </a:p>
        </p:txBody>
      </p:sp>
      <p:sp>
        <p:nvSpPr>
          <p:cNvPr id="41" name="TextBox 41"/>
          <p:cNvSpPr txBox="1"/>
          <p:nvPr/>
        </p:nvSpPr>
        <p:spPr>
          <a:xfrm>
            <a:off x="9270308" y="8165763"/>
            <a:ext cx="2548954" cy="1927860"/>
          </a:xfrm>
          <a:prstGeom prst="rect">
            <a:avLst/>
          </a:prstGeom>
        </p:spPr>
        <p:txBody>
          <a:bodyPr lIns="0" tIns="0" rIns="0" bIns="0" rtlCol="0" anchor="t">
            <a:spAutoFit/>
          </a:bodyPr>
          <a:lstStyle/>
          <a:p>
            <a:pPr algn="l">
              <a:lnSpc>
                <a:spcPts val="1889"/>
              </a:lnSpc>
              <a:spcBef>
                <a:spcPct val="0"/>
              </a:spcBef>
            </a:pPr>
            <a:r>
              <a:rPr lang="en-US" sz="1350" b="1">
                <a:solidFill>
                  <a:srgbClr val="000000"/>
                </a:solidFill>
                <a:latin typeface="Times New Roman MT Bold"/>
                <a:ea typeface="Times New Roman MT Bold"/>
                <a:cs typeface="Times New Roman MT Bold"/>
                <a:sym typeface="Times New Roman MT Bold"/>
              </a:rPr>
              <a:t>3)</a:t>
            </a:r>
            <a:r>
              <a:rPr lang="en-US" sz="1350" b="1" u="sng">
                <a:solidFill>
                  <a:srgbClr val="000000"/>
                </a:solidFill>
                <a:latin typeface="Times New Roman MT Bold"/>
                <a:ea typeface="Times New Roman MT Bold"/>
                <a:cs typeface="Times New Roman MT Bold"/>
                <a:sym typeface="Times New Roman MT Bold"/>
              </a:rPr>
              <a:t> Pilot Integration (Hospital Workflow)</a:t>
            </a:r>
          </a:p>
          <a:p>
            <a:pPr marL="291465" lvl="1" indent="-145732" algn="l">
              <a:lnSpc>
                <a:spcPts val="1889"/>
              </a:lnSpc>
              <a:spcBef>
                <a:spcPct val="0"/>
              </a:spcBef>
              <a:buFont typeface="Arial"/>
              <a:buChar char="•"/>
            </a:pPr>
            <a:r>
              <a:rPr lang="en-US" sz="1350">
                <a:solidFill>
                  <a:srgbClr val="000000"/>
                </a:solidFill>
                <a:latin typeface="Times New Roman MT"/>
                <a:ea typeface="Times New Roman MT"/>
                <a:cs typeface="Times New Roman MT"/>
                <a:sym typeface="Times New Roman MT"/>
              </a:rPr>
              <a:t>Connect to EHR using FHIR / SMART</a:t>
            </a:r>
          </a:p>
          <a:p>
            <a:pPr marL="291465" lvl="1" indent="-145732" algn="l">
              <a:lnSpc>
                <a:spcPts val="1889"/>
              </a:lnSpc>
              <a:spcBef>
                <a:spcPct val="0"/>
              </a:spcBef>
              <a:buFont typeface="Arial"/>
              <a:buChar char="•"/>
            </a:pPr>
            <a:r>
              <a:rPr lang="en-US" sz="1350">
                <a:solidFill>
                  <a:srgbClr val="000000"/>
                </a:solidFill>
                <a:latin typeface="Times New Roman MT"/>
                <a:ea typeface="Times New Roman MT"/>
                <a:cs typeface="Times New Roman MT"/>
                <a:sym typeface="Times New Roman MT"/>
              </a:rPr>
              <a:t>Add payer policy library (version controlled)</a:t>
            </a:r>
          </a:p>
          <a:p>
            <a:pPr marL="291465" lvl="1" indent="-145732" algn="l">
              <a:lnSpc>
                <a:spcPts val="1889"/>
              </a:lnSpc>
              <a:spcBef>
                <a:spcPct val="0"/>
              </a:spcBef>
              <a:buFont typeface="Arial"/>
              <a:buChar char="•"/>
            </a:pPr>
            <a:r>
              <a:rPr lang="en-US" sz="1350">
                <a:solidFill>
                  <a:srgbClr val="000000"/>
                </a:solidFill>
                <a:latin typeface="Times New Roman MT"/>
                <a:ea typeface="Times New Roman MT"/>
                <a:cs typeface="Times New Roman MT"/>
                <a:sym typeface="Times New Roman MT"/>
              </a:rPr>
              <a:t>Support portal/fax/API submission paths</a:t>
            </a:r>
          </a:p>
        </p:txBody>
      </p:sp>
      <p:sp>
        <p:nvSpPr>
          <p:cNvPr id="42" name="TextBox 42"/>
          <p:cNvSpPr txBox="1"/>
          <p:nvPr/>
        </p:nvSpPr>
        <p:spPr>
          <a:xfrm>
            <a:off x="11914306" y="7843698"/>
            <a:ext cx="2910860" cy="1927860"/>
          </a:xfrm>
          <a:prstGeom prst="rect">
            <a:avLst/>
          </a:prstGeom>
        </p:spPr>
        <p:txBody>
          <a:bodyPr lIns="0" tIns="0" rIns="0" bIns="0" rtlCol="0" anchor="t">
            <a:spAutoFit/>
          </a:bodyPr>
          <a:lstStyle/>
          <a:p>
            <a:pPr algn="just">
              <a:lnSpc>
                <a:spcPts val="1889"/>
              </a:lnSpc>
            </a:pPr>
            <a:r>
              <a:rPr lang="en-US" sz="1350" b="1">
                <a:solidFill>
                  <a:srgbClr val="000000"/>
                </a:solidFill>
                <a:latin typeface="Times New Roman MT Bold"/>
                <a:ea typeface="Times New Roman MT Bold"/>
                <a:cs typeface="Times New Roman MT Bold"/>
                <a:sym typeface="Times New Roman MT Bold"/>
              </a:rPr>
              <a:t>5) </a:t>
            </a:r>
            <a:r>
              <a:rPr lang="en-US" sz="1350" b="1" u="sng">
                <a:solidFill>
                  <a:srgbClr val="000000"/>
                </a:solidFill>
                <a:latin typeface="Times New Roman MT Bold"/>
                <a:ea typeface="Times New Roman MT Bold"/>
                <a:cs typeface="Times New Roman MT Bold"/>
                <a:sym typeface="Times New Roman MT Bold"/>
              </a:rPr>
              <a:t>Market Launch &amp; Expansion</a:t>
            </a:r>
          </a:p>
          <a:p>
            <a:pPr marL="291465" lvl="1" indent="-145732" algn="l">
              <a:lnSpc>
                <a:spcPts val="1889"/>
              </a:lnSpc>
              <a:spcBef>
                <a:spcPct val="0"/>
              </a:spcBef>
              <a:buFont typeface="Arial"/>
              <a:buChar char="•"/>
            </a:pPr>
            <a:r>
              <a:rPr lang="en-US" sz="1350">
                <a:solidFill>
                  <a:srgbClr val="000000"/>
                </a:solidFill>
                <a:latin typeface="Times New Roman MT"/>
                <a:ea typeface="Times New Roman MT"/>
                <a:cs typeface="Times New Roman MT"/>
                <a:sym typeface="Times New Roman MT"/>
              </a:rPr>
              <a:t>Rollout as enterprise PA automation platform</a:t>
            </a:r>
          </a:p>
          <a:p>
            <a:pPr marL="291465" lvl="1" indent="-145732" algn="l">
              <a:lnSpc>
                <a:spcPts val="1889"/>
              </a:lnSpc>
              <a:spcBef>
                <a:spcPct val="0"/>
              </a:spcBef>
              <a:buFont typeface="Arial"/>
              <a:buChar char="•"/>
            </a:pPr>
            <a:r>
              <a:rPr lang="en-US" sz="1350">
                <a:solidFill>
                  <a:srgbClr val="000000"/>
                </a:solidFill>
                <a:latin typeface="Times New Roman MT"/>
                <a:ea typeface="Times New Roman MT"/>
                <a:cs typeface="Times New Roman MT"/>
                <a:sym typeface="Times New Roman MT"/>
              </a:rPr>
              <a:t>Continuous policy updates + compliance reporting</a:t>
            </a:r>
          </a:p>
          <a:p>
            <a:pPr marL="291465" lvl="1" indent="-145732" algn="l">
              <a:lnSpc>
                <a:spcPts val="1889"/>
              </a:lnSpc>
              <a:spcBef>
                <a:spcPct val="0"/>
              </a:spcBef>
              <a:buFont typeface="Arial"/>
              <a:buChar char="•"/>
            </a:pPr>
            <a:r>
              <a:rPr lang="en-US" sz="1350">
                <a:solidFill>
                  <a:srgbClr val="000000"/>
                </a:solidFill>
                <a:latin typeface="Times New Roman MT"/>
                <a:ea typeface="Times New Roman MT"/>
                <a:cs typeface="Times New Roman MT"/>
                <a:sym typeface="Times New Roman MT"/>
              </a:rPr>
              <a:t>Expand to all PA categories (medical + pharmacy + DME + inpatient)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69539"/>
            <a:ext cx="6631656" cy="2764070"/>
            <a:chOff x="0" y="0"/>
            <a:chExt cx="1746609" cy="727986"/>
          </a:xfrm>
        </p:grpSpPr>
        <p:sp>
          <p:nvSpPr>
            <p:cNvPr id="3" name="Freeform 3"/>
            <p:cNvSpPr/>
            <p:nvPr/>
          </p:nvSpPr>
          <p:spPr>
            <a:xfrm>
              <a:off x="0" y="0"/>
              <a:ext cx="1746609" cy="727986"/>
            </a:xfrm>
            <a:custGeom>
              <a:avLst/>
              <a:gdLst/>
              <a:ahLst/>
              <a:cxnLst/>
              <a:rect l="l" t="t" r="r" b="b"/>
              <a:pathLst>
                <a:path w="1746609" h="727986">
                  <a:moveTo>
                    <a:pt x="0" y="0"/>
                  </a:moveTo>
                  <a:lnTo>
                    <a:pt x="1746609" y="0"/>
                  </a:lnTo>
                  <a:lnTo>
                    <a:pt x="1746609" y="727986"/>
                  </a:lnTo>
                  <a:lnTo>
                    <a:pt x="0" y="727986"/>
                  </a:lnTo>
                  <a:close/>
                </a:path>
              </a:pathLst>
            </a:custGeom>
            <a:solidFill>
              <a:srgbClr val="FFFFFF"/>
            </a:solidFill>
          </p:spPr>
          <p:txBody>
            <a:bodyPr/>
            <a:lstStyle/>
            <a:p>
              <a:endParaRPr lang="en-IN"/>
            </a:p>
          </p:txBody>
        </p:sp>
        <p:sp>
          <p:nvSpPr>
            <p:cNvPr id="4" name="TextBox 4"/>
            <p:cNvSpPr txBox="1"/>
            <p:nvPr/>
          </p:nvSpPr>
          <p:spPr>
            <a:xfrm>
              <a:off x="0" y="-38100"/>
              <a:ext cx="1746609" cy="766086"/>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95569" y="6203031"/>
            <a:ext cx="4917164" cy="3634740"/>
            <a:chOff x="0" y="0"/>
            <a:chExt cx="1295056" cy="957298"/>
          </a:xfrm>
        </p:grpSpPr>
        <p:sp>
          <p:nvSpPr>
            <p:cNvPr id="6" name="Freeform 6"/>
            <p:cNvSpPr/>
            <p:nvPr/>
          </p:nvSpPr>
          <p:spPr>
            <a:xfrm>
              <a:off x="0" y="0"/>
              <a:ext cx="1295056" cy="957298"/>
            </a:xfrm>
            <a:custGeom>
              <a:avLst/>
              <a:gdLst/>
              <a:ahLst/>
              <a:cxnLst/>
              <a:rect l="l" t="t" r="r" b="b"/>
              <a:pathLst>
                <a:path w="1295056" h="957298">
                  <a:moveTo>
                    <a:pt x="0" y="0"/>
                  </a:moveTo>
                  <a:lnTo>
                    <a:pt x="1295056" y="0"/>
                  </a:lnTo>
                  <a:lnTo>
                    <a:pt x="1295056" y="957298"/>
                  </a:lnTo>
                  <a:lnTo>
                    <a:pt x="0" y="957298"/>
                  </a:lnTo>
                  <a:close/>
                </a:path>
              </a:pathLst>
            </a:custGeom>
          </p:spPr>
          <p:txBody>
            <a:bodyPr/>
            <a:lstStyle/>
            <a:p>
              <a:endParaRPr lang="en-IN"/>
            </a:p>
          </p:txBody>
        </p:sp>
        <p:sp>
          <p:nvSpPr>
            <p:cNvPr id="7" name="TextBox 7"/>
            <p:cNvSpPr txBox="1"/>
            <p:nvPr/>
          </p:nvSpPr>
          <p:spPr>
            <a:xfrm>
              <a:off x="0" y="-85725"/>
              <a:ext cx="1295056" cy="1043023"/>
            </a:xfrm>
            <a:prstGeom prst="rect">
              <a:avLst/>
            </a:prstGeom>
          </p:spPr>
          <p:txBody>
            <a:bodyPr lIns="50800" tIns="50800" rIns="50800" bIns="50800" rtlCol="0" anchor="ctr"/>
            <a:lstStyle/>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Upload patient docs / EHR intake</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Clinical evidence extraction (diagnosis, procedure, labs, history)</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Policy retrieval + requirement checklist matching</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Auto-generate PA request packet (summary + attachments)</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Submission + payer communication loop (RFI handling)</a:t>
              </a:r>
            </a:p>
            <a:p>
              <a:pPr algn="l">
                <a:lnSpc>
                  <a:spcPts val="2800"/>
                </a:lnSpc>
              </a:pPr>
              <a:endParaRPr lang="en-US" sz="2000" dirty="0">
                <a:solidFill>
                  <a:srgbClr val="000000"/>
                </a:solidFill>
                <a:latin typeface="Times New Roman MT"/>
                <a:ea typeface="Times New Roman MT"/>
                <a:cs typeface="Times New Roman MT"/>
                <a:sym typeface="Times New Roman MT"/>
              </a:endParaRPr>
            </a:p>
          </p:txBody>
        </p:sp>
      </p:grpSp>
      <p:sp>
        <p:nvSpPr>
          <p:cNvPr id="8" name="Freeform 8"/>
          <p:cNvSpPr/>
          <p:nvPr/>
        </p:nvSpPr>
        <p:spPr>
          <a:xfrm>
            <a:off x="11243408" y="5934370"/>
            <a:ext cx="6816809" cy="3778194"/>
          </a:xfrm>
          <a:custGeom>
            <a:avLst/>
            <a:gdLst/>
            <a:ahLst/>
            <a:cxnLst/>
            <a:rect l="l" t="t" r="r" b="b"/>
            <a:pathLst>
              <a:path w="6816809" h="3778194">
                <a:moveTo>
                  <a:pt x="0" y="0"/>
                </a:moveTo>
                <a:lnTo>
                  <a:pt x="6816809" y="0"/>
                </a:lnTo>
                <a:lnTo>
                  <a:pt x="6816809" y="3778194"/>
                </a:lnTo>
                <a:lnTo>
                  <a:pt x="0" y="3778194"/>
                </a:lnTo>
                <a:lnTo>
                  <a:pt x="0" y="0"/>
                </a:lnTo>
                <a:close/>
              </a:path>
            </a:pathLst>
          </a:custGeom>
          <a:blipFill>
            <a:blip r:embed="rId2"/>
            <a:stretch>
              <a:fillRect l="-9925" t="-5353" r="-3967" b="-31587"/>
            </a:stretch>
          </a:blipFill>
        </p:spPr>
        <p:txBody>
          <a:bodyPr/>
          <a:lstStyle/>
          <a:p>
            <a:endParaRPr lang="en-IN"/>
          </a:p>
        </p:txBody>
      </p:sp>
      <p:sp>
        <p:nvSpPr>
          <p:cNvPr id="9" name="Freeform 9"/>
          <p:cNvSpPr/>
          <p:nvPr/>
        </p:nvSpPr>
        <p:spPr>
          <a:xfrm>
            <a:off x="261484" y="3144723"/>
            <a:ext cx="7591604" cy="2158837"/>
          </a:xfrm>
          <a:custGeom>
            <a:avLst/>
            <a:gdLst/>
            <a:ahLst/>
            <a:cxnLst/>
            <a:rect l="l" t="t" r="r" b="b"/>
            <a:pathLst>
              <a:path w="7591604" h="2158837">
                <a:moveTo>
                  <a:pt x="0" y="0"/>
                </a:moveTo>
                <a:lnTo>
                  <a:pt x="7591604" y="0"/>
                </a:lnTo>
                <a:lnTo>
                  <a:pt x="7591604" y="2158837"/>
                </a:lnTo>
                <a:lnTo>
                  <a:pt x="0" y="2158837"/>
                </a:lnTo>
                <a:lnTo>
                  <a:pt x="0" y="0"/>
                </a:lnTo>
                <a:close/>
              </a:path>
            </a:pathLst>
          </a:custGeom>
          <a:blipFill>
            <a:blip r:embed="rId3"/>
            <a:stretch>
              <a:fillRect t="-3260" b="-3260"/>
            </a:stretch>
          </a:blipFill>
        </p:spPr>
        <p:txBody>
          <a:bodyPr/>
          <a:lstStyle/>
          <a:p>
            <a:endParaRPr lang="en-IN"/>
          </a:p>
        </p:txBody>
      </p:sp>
      <p:sp>
        <p:nvSpPr>
          <p:cNvPr id="10" name="Freeform 10"/>
          <p:cNvSpPr/>
          <p:nvPr/>
        </p:nvSpPr>
        <p:spPr>
          <a:xfrm>
            <a:off x="11015625" y="5564795"/>
            <a:ext cx="7044592" cy="4517345"/>
          </a:xfrm>
          <a:custGeom>
            <a:avLst/>
            <a:gdLst/>
            <a:ahLst/>
            <a:cxnLst/>
            <a:rect l="l" t="t" r="r" b="b"/>
            <a:pathLst>
              <a:path w="7044592" h="4517345">
                <a:moveTo>
                  <a:pt x="0" y="0"/>
                </a:moveTo>
                <a:lnTo>
                  <a:pt x="7044592" y="0"/>
                </a:lnTo>
                <a:lnTo>
                  <a:pt x="7044592" y="4517345"/>
                </a:lnTo>
                <a:lnTo>
                  <a:pt x="0" y="4517345"/>
                </a:lnTo>
                <a:lnTo>
                  <a:pt x="0" y="0"/>
                </a:lnTo>
                <a:close/>
              </a:path>
            </a:pathLst>
          </a:custGeom>
          <a:blipFill>
            <a:blip r:embed="rId4"/>
            <a:stretch>
              <a:fillRect/>
            </a:stretch>
          </a:blipFill>
        </p:spPr>
        <p:txBody>
          <a:bodyPr/>
          <a:lstStyle/>
          <a:p>
            <a:endParaRPr lang="en-IN"/>
          </a:p>
        </p:txBody>
      </p:sp>
      <p:sp>
        <p:nvSpPr>
          <p:cNvPr id="11" name="Freeform 11"/>
          <p:cNvSpPr/>
          <p:nvPr/>
        </p:nvSpPr>
        <p:spPr>
          <a:xfrm>
            <a:off x="8456205" y="219175"/>
            <a:ext cx="9604012" cy="5238188"/>
          </a:xfrm>
          <a:custGeom>
            <a:avLst/>
            <a:gdLst/>
            <a:ahLst/>
            <a:cxnLst/>
            <a:rect l="l" t="t" r="r" b="b"/>
            <a:pathLst>
              <a:path w="9604012" h="5238188">
                <a:moveTo>
                  <a:pt x="0" y="0"/>
                </a:moveTo>
                <a:lnTo>
                  <a:pt x="9604012" y="0"/>
                </a:lnTo>
                <a:lnTo>
                  <a:pt x="9604012" y="5238188"/>
                </a:lnTo>
                <a:lnTo>
                  <a:pt x="0" y="5238188"/>
                </a:lnTo>
                <a:lnTo>
                  <a:pt x="0" y="0"/>
                </a:lnTo>
                <a:close/>
              </a:path>
            </a:pathLst>
          </a:custGeom>
          <a:blipFill>
            <a:blip r:embed="rId5"/>
            <a:stretch>
              <a:fillRect/>
            </a:stretch>
          </a:blipFill>
        </p:spPr>
        <p:txBody>
          <a:bodyPr/>
          <a:lstStyle/>
          <a:p>
            <a:endParaRPr lang="en-IN"/>
          </a:p>
        </p:txBody>
      </p:sp>
      <p:sp>
        <p:nvSpPr>
          <p:cNvPr id="12" name="TextBox 12"/>
          <p:cNvSpPr txBox="1"/>
          <p:nvPr/>
        </p:nvSpPr>
        <p:spPr>
          <a:xfrm>
            <a:off x="432405" y="433070"/>
            <a:ext cx="2386996" cy="476669"/>
          </a:xfrm>
          <a:prstGeom prst="rect">
            <a:avLst/>
          </a:prstGeom>
        </p:spPr>
        <p:txBody>
          <a:bodyPr wrap="square" lIns="0" tIns="0" rIns="0" bIns="0" rtlCol="0" anchor="t">
            <a:spAutoFit/>
          </a:bodyPr>
          <a:lstStyle/>
          <a:p>
            <a:pPr algn="ctr">
              <a:lnSpc>
                <a:spcPts val="3919"/>
              </a:lnSpc>
              <a:spcBef>
                <a:spcPct val="0"/>
              </a:spcBef>
            </a:pPr>
            <a:r>
              <a:rPr lang="en-US" sz="2799" b="1" u="sng" dirty="0">
                <a:solidFill>
                  <a:srgbClr val="000000"/>
                </a:solidFill>
                <a:latin typeface="Times New Roman MT Bold"/>
                <a:ea typeface="Times New Roman MT Bold"/>
                <a:cs typeface="Times New Roman MT Bold"/>
                <a:sym typeface="Times New Roman MT Bold"/>
              </a:rPr>
              <a:t>Solution Details</a:t>
            </a:r>
          </a:p>
        </p:txBody>
      </p:sp>
      <p:sp>
        <p:nvSpPr>
          <p:cNvPr id="13" name="TextBox 13"/>
          <p:cNvSpPr txBox="1"/>
          <p:nvPr/>
        </p:nvSpPr>
        <p:spPr>
          <a:xfrm>
            <a:off x="432405" y="942975"/>
            <a:ext cx="7354767" cy="1444625"/>
          </a:xfrm>
          <a:prstGeom prst="rect">
            <a:avLst/>
          </a:prstGeom>
        </p:spPr>
        <p:txBody>
          <a:bodyPr lIns="0" tIns="0" rIns="0" bIns="0" rtlCol="0" anchor="t">
            <a:spAutoFit/>
          </a:bodyPr>
          <a:lstStyle/>
          <a:p>
            <a:pPr algn="l">
              <a:lnSpc>
                <a:spcPts val="2800"/>
              </a:lnSpc>
            </a:pPr>
            <a:r>
              <a:rPr lang="en-US" sz="2000" dirty="0" err="1">
                <a:solidFill>
                  <a:srgbClr val="000000"/>
                </a:solidFill>
                <a:latin typeface="Times New Roman MT"/>
                <a:ea typeface="Times New Roman MT"/>
                <a:cs typeface="Times New Roman MT"/>
                <a:sym typeface="Times New Roman MT"/>
              </a:rPr>
              <a:t>AutoAuth</a:t>
            </a:r>
            <a:r>
              <a:rPr lang="en-US" sz="2000" dirty="0">
                <a:solidFill>
                  <a:srgbClr val="000000"/>
                </a:solidFill>
                <a:latin typeface="Times New Roman MT"/>
                <a:ea typeface="Times New Roman MT"/>
                <a:cs typeface="Times New Roman MT"/>
                <a:sym typeface="Times New Roman MT"/>
              </a:rPr>
              <a:t> is an agent-driven Prior Authorization assistant that extracts clinical evidence from EHR documents, matches it to payer rules, generates a complete PA packet, and supports submission, tracking, RFIs, and appeals with final human confirmation.</a:t>
            </a:r>
          </a:p>
        </p:txBody>
      </p:sp>
      <p:sp>
        <p:nvSpPr>
          <p:cNvPr id="14" name="TextBox 14"/>
          <p:cNvSpPr txBox="1"/>
          <p:nvPr/>
        </p:nvSpPr>
        <p:spPr>
          <a:xfrm>
            <a:off x="434448" y="2468781"/>
            <a:ext cx="2581077" cy="538480"/>
          </a:xfrm>
          <a:prstGeom prst="rect">
            <a:avLst/>
          </a:prstGeom>
        </p:spPr>
        <p:txBody>
          <a:bodyPr lIns="0" tIns="0" rIns="0" bIns="0" rtlCol="0" anchor="t">
            <a:spAutoFit/>
          </a:bodyPr>
          <a:lstStyle/>
          <a:p>
            <a:pPr algn="ctr">
              <a:lnSpc>
                <a:spcPts val="3919"/>
              </a:lnSpc>
              <a:spcBef>
                <a:spcPct val="0"/>
              </a:spcBef>
            </a:pPr>
            <a:r>
              <a:rPr lang="en-US" sz="2799" b="1" u="sng">
                <a:solidFill>
                  <a:srgbClr val="000000"/>
                </a:solidFill>
                <a:latin typeface="Times New Roman MT Bold"/>
                <a:ea typeface="Times New Roman MT Bold"/>
                <a:cs typeface="Times New Roman MT Bold"/>
                <a:sym typeface="Times New Roman MT Bold"/>
              </a:rPr>
              <a:t>Proof of Concept</a:t>
            </a:r>
          </a:p>
        </p:txBody>
      </p:sp>
      <p:sp>
        <p:nvSpPr>
          <p:cNvPr id="15" name="TextBox 15"/>
          <p:cNvSpPr txBox="1"/>
          <p:nvPr/>
        </p:nvSpPr>
        <p:spPr>
          <a:xfrm>
            <a:off x="432370" y="5543088"/>
            <a:ext cx="2006030" cy="476669"/>
          </a:xfrm>
          <a:prstGeom prst="rect">
            <a:avLst/>
          </a:prstGeom>
        </p:spPr>
        <p:txBody>
          <a:bodyPr wrap="square" lIns="0" tIns="0" rIns="0" bIns="0" rtlCol="0" anchor="t">
            <a:spAutoFit/>
          </a:bodyPr>
          <a:lstStyle/>
          <a:p>
            <a:pPr algn="ctr">
              <a:lnSpc>
                <a:spcPts val="3919"/>
              </a:lnSpc>
              <a:spcBef>
                <a:spcPct val="0"/>
              </a:spcBef>
            </a:pPr>
            <a:r>
              <a:rPr lang="en-US" sz="2799" b="1" u="sng" dirty="0">
                <a:solidFill>
                  <a:srgbClr val="000000"/>
                </a:solidFill>
                <a:latin typeface="Times New Roman MT Bold"/>
                <a:ea typeface="Times New Roman MT Bold"/>
                <a:cs typeface="Times New Roman MT Bold"/>
                <a:sym typeface="Times New Roman MT Bold"/>
              </a:rPr>
              <a:t>Key Features</a:t>
            </a:r>
          </a:p>
        </p:txBody>
      </p:sp>
      <p:sp>
        <p:nvSpPr>
          <p:cNvPr id="16" name="TextBox 16"/>
          <p:cNvSpPr txBox="1"/>
          <p:nvPr/>
        </p:nvSpPr>
        <p:spPr>
          <a:xfrm>
            <a:off x="5125738" y="5934370"/>
            <a:ext cx="5454700" cy="3911600"/>
          </a:xfrm>
          <a:prstGeom prst="rect">
            <a:avLst/>
          </a:prstGeom>
        </p:spPr>
        <p:txBody>
          <a:bodyPr lIns="0" tIns="0" rIns="0" bIns="0" rtlCol="0" anchor="t">
            <a:spAutoFit/>
          </a:bodyPr>
          <a:lstStyle/>
          <a:p>
            <a:pPr marL="431801" lvl="1" indent="-215900" algn="l">
              <a:lnSpc>
                <a:spcPts val="2800"/>
              </a:lnSpc>
              <a:spcBef>
                <a:spcPct val="0"/>
              </a:spcBef>
              <a:buFont typeface="Arial"/>
              <a:buChar char="•"/>
            </a:pPr>
            <a:r>
              <a:rPr lang="en-US" sz="2000" dirty="0">
                <a:solidFill>
                  <a:srgbClr val="000000"/>
                </a:solidFill>
                <a:latin typeface="Times New Roman MT"/>
                <a:ea typeface="Times New Roman MT"/>
                <a:cs typeface="Times New Roman MT"/>
                <a:sym typeface="Times New Roman MT"/>
              </a:rPr>
              <a:t> Reduces administrative workload for PA coordinators by automating evidence extraction and packet preparation</a:t>
            </a:r>
          </a:p>
          <a:p>
            <a:pPr marL="431801" lvl="1" indent="-215900" algn="l">
              <a:lnSpc>
                <a:spcPts val="2800"/>
              </a:lnSpc>
              <a:spcBef>
                <a:spcPct val="0"/>
              </a:spcBef>
              <a:buFont typeface="Arial"/>
              <a:buChar char="•"/>
            </a:pPr>
            <a:r>
              <a:rPr lang="en-US" sz="2000" dirty="0">
                <a:solidFill>
                  <a:srgbClr val="000000"/>
                </a:solidFill>
                <a:latin typeface="Times New Roman MT"/>
                <a:ea typeface="Times New Roman MT"/>
                <a:cs typeface="Times New Roman MT"/>
                <a:sym typeface="Times New Roman MT"/>
              </a:rPr>
              <a:t>Improves first-pass approval rate by validating missing documents before submission</a:t>
            </a:r>
          </a:p>
          <a:p>
            <a:pPr marL="431801" lvl="1" indent="-215900" algn="l">
              <a:lnSpc>
                <a:spcPts val="2800"/>
              </a:lnSpc>
              <a:spcBef>
                <a:spcPct val="0"/>
              </a:spcBef>
              <a:buFont typeface="Arial"/>
              <a:buChar char="•"/>
            </a:pPr>
            <a:r>
              <a:rPr lang="en-US" sz="2000" dirty="0">
                <a:solidFill>
                  <a:srgbClr val="000000"/>
                </a:solidFill>
                <a:latin typeface="Times New Roman MT"/>
                <a:ea typeface="Times New Roman MT"/>
                <a:cs typeface="Times New Roman MT"/>
                <a:sym typeface="Times New Roman MT"/>
              </a:rPr>
              <a:t>Faster patient care by reducing delays caused by manual PA workflows</a:t>
            </a:r>
          </a:p>
          <a:p>
            <a:pPr marL="431801" lvl="1" indent="-215900" algn="l">
              <a:lnSpc>
                <a:spcPts val="2800"/>
              </a:lnSpc>
              <a:spcBef>
                <a:spcPct val="0"/>
              </a:spcBef>
              <a:buFont typeface="Arial"/>
              <a:buChar char="•"/>
            </a:pPr>
            <a:r>
              <a:rPr lang="en-US" sz="2000" dirty="0">
                <a:solidFill>
                  <a:srgbClr val="000000"/>
                </a:solidFill>
                <a:latin typeface="Times New Roman MT"/>
                <a:ea typeface="Times New Roman MT"/>
                <a:cs typeface="Times New Roman MT"/>
                <a:sym typeface="Times New Roman MT"/>
              </a:rPr>
              <a:t>Audit-ready traceability with policy versioning + case history logging</a:t>
            </a:r>
          </a:p>
          <a:p>
            <a:pPr marL="431801" lvl="1" indent="-215900" algn="l">
              <a:lnSpc>
                <a:spcPts val="2800"/>
              </a:lnSpc>
              <a:spcBef>
                <a:spcPct val="0"/>
              </a:spcBef>
              <a:buFont typeface="Arial"/>
              <a:buChar char="•"/>
            </a:pPr>
            <a:r>
              <a:rPr lang="en-US" sz="2000" dirty="0">
                <a:solidFill>
                  <a:srgbClr val="000000"/>
                </a:solidFill>
                <a:latin typeface="Times New Roman MT"/>
                <a:ea typeface="Times New Roman MT"/>
                <a:cs typeface="Times New Roman MT"/>
                <a:sym typeface="Times New Roman MT"/>
              </a:rPr>
              <a:t>Scales across PA types (medical + pharmacy + specialty + DME)</a:t>
            </a:r>
          </a:p>
        </p:txBody>
      </p:sp>
      <p:sp>
        <p:nvSpPr>
          <p:cNvPr id="17" name="TextBox 17"/>
          <p:cNvSpPr txBox="1"/>
          <p:nvPr/>
        </p:nvSpPr>
        <p:spPr>
          <a:xfrm>
            <a:off x="5466549" y="5457701"/>
            <a:ext cx="2006030" cy="476669"/>
          </a:xfrm>
          <a:prstGeom prst="rect">
            <a:avLst/>
          </a:prstGeom>
        </p:spPr>
        <p:txBody>
          <a:bodyPr wrap="square" lIns="0" tIns="0" rIns="0" bIns="0" rtlCol="0" anchor="t">
            <a:spAutoFit/>
          </a:bodyPr>
          <a:lstStyle/>
          <a:p>
            <a:pPr algn="ctr">
              <a:lnSpc>
                <a:spcPts val="3919"/>
              </a:lnSpc>
              <a:spcBef>
                <a:spcPct val="0"/>
              </a:spcBef>
            </a:pPr>
            <a:r>
              <a:rPr lang="en-US" sz="2799" b="1" u="sng" dirty="0">
                <a:solidFill>
                  <a:srgbClr val="000000"/>
                </a:solidFill>
                <a:latin typeface="Times New Roman MT Bold"/>
                <a:ea typeface="Times New Roman MT Bold"/>
                <a:cs typeface="Times New Roman MT Bold"/>
                <a:sym typeface="Times New Roman MT Bold"/>
              </a:rPr>
              <a:t>Advantages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518</Words>
  <Application>Microsoft Office PowerPoint</Application>
  <PresentationFormat>Custom</PresentationFormat>
  <Paragraphs>61</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Times New Roman MT Bold</vt:lpstr>
      <vt:lpstr>Calibri</vt:lpstr>
      <vt:lpstr>Canva Sans Bold</vt:lpstr>
      <vt:lpstr>Times New Roman MT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jatayu_s5_case_1_IntelliAgents</dc:title>
  <cp:lastModifiedBy>SAI TEJA VENKATA VINAY ADAPA</cp:lastModifiedBy>
  <cp:revision>2</cp:revision>
  <dcterms:created xsi:type="dcterms:W3CDTF">2006-08-16T00:00:00Z</dcterms:created>
  <dcterms:modified xsi:type="dcterms:W3CDTF">2026-02-15T09:13:20Z</dcterms:modified>
  <dc:identifier>DAHBLX8mti4</dc:identifier>
</cp:coreProperties>
</file>